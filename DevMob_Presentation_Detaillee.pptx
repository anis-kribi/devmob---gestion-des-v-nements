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3" autoAdjust="0"/>
    <p:restoredTop sz="94658"/>
  </p:normalViewPr>
  <p:slideViewPr>
    <p:cSldViewPr snapToGrid="0">
      <p:cViewPr varScale="1">
        <p:scale>
          <a:sx n="87" d="100"/>
          <a:sy n="87" d="100"/>
        </p:scale>
        <p:origin x="48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15C2FE9-B7A9-456B-A58C-5E9D6D8EE0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E181CC-C3C1-429F-A3FA-08AEDB38E8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12B063-4587-4F99-88BF-64EA081C3E3B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57150" cy="8001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223B6D-4042-40EA-826B-90ED325B6FAA}"/>
              </a:ext>
            </a:extLst>
          </p:cNvPr>
          <p:cNvSpPr>
            <a:spLocks noGrp="1"/>
          </p:cNvSpPr>
          <p:nvPr/>
        </p:nvSpPr>
        <p:spPr>
          <a:xfrm>
            <a:off x="781050" y="4762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D4E5"/>
                </a:solidFill>
                <a:latin typeface="Aptos"/>
                <a:ea typeface="Aptos"/>
                <a:cs typeface="Aptos"/>
              </a:rPr>
              <a:t>DEVMOB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11431F-0804-49C0-AD92-649E284D4AB1}"/>
              </a:ext>
            </a:extLst>
          </p:cNvPr>
          <p:cNvSpPr>
            <a:spLocks noGrp="1"/>
          </p:cNvSpPr>
          <p:nvPr/>
        </p:nvSpPr>
        <p:spPr>
          <a:xfrm>
            <a:off x="781050" y="762000"/>
            <a:ext cx="3238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A0B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A0B7"/>
                </a:solidFill>
                <a:latin typeface="Aptos"/>
                <a:ea typeface="Aptos"/>
                <a:cs typeface="Aptos"/>
              </a:rPr>
              <a:t>Gestion des evenements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4C4649-E545-4CB3-9336-95143C89904D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6667500" cy="161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Une </a:t>
            </a:r>
            <a:r>
              <a:rPr sz="360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plateforme</a:t>
            </a:r>
            <a:r>
              <a:rPr sz="36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mobile qui </a:t>
            </a:r>
            <a:r>
              <a:rPr sz="360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relie</a:t>
            </a:r>
            <a:r>
              <a:rPr sz="36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3600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decouverte</a:t>
            </a:r>
            <a:r>
              <a:rPr sz="36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, reservation et pilotage.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3A1DC5-B150-453C-8BC4-38DA285D17EF}"/>
              </a:ext>
            </a:extLst>
          </p:cNvPr>
          <p:cNvSpPr>
            <a:spLocks noGrp="1"/>
          </p:cNvSpPr>
          <p:nvPr/>
        </p:nvSpPr>
        <p:spPr>
          <a:xfrm>
            <a:off x="590550" y="3562350"/>
            <a:ext cx="56197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9D4E5"/>
                </a:solidFill>
                <a:latin typeface="Aptos"/>
                <a:ea typeface="Aptos"/>
                <a:cs typeface="Aptos"/>
              </a:rPr>
              <a:t>Application Flutter/Firebase avec espaces utilisateur, organisateur et administrateur, pensee pour un parcours evenementiel complet.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58125" y="1028700"/>
            <a:ext cx="2571750" cy="25717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C3C956F-D86A-4625-814D-4221A00FDF2A}"/>
              </a:ext>
            </a:extLst>
          </p:cNvPr>
          <p:cNvSpPr>
            <a:spLocks noGrp="1"/>
          </p:cNvSpPr>
          <p:nvPr/>
        </p:nvSpPr>
        <p:spPr>
          <a:xfrm>
            <a:off x="7762875" y="3857625"/>
            <a:ext cx="4095750" cy="1295400"/>
          </a:xfrm>
          <a:prstGeom prst="rect">
            <a:avLst/>
          </a:prstGeom>
          <a:solidFill>
            <a:srgbClr val="182334"/>
          </a:solidFill>
          <a:ln w="9525">
            <a:solidFill>
              <a:srgbClr val="2B3A5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1E8D2F-9B8E-4E33-A82A-B810C699DED2}"/>
              </a:ext>
            </a:extLst>
          </p:cNvPr>
          <p:cNvSpPr>
            <a:spLocks noGrp="1"/>
          </p:cNvSpPr>
          <p:nvPr/>
        </p:nvSpPr>
        <p:spPr>
          <a:xfrm>
            <a:off x="8077200" y="4210050"/>
            <a:ext cx="9525" cy="5524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632872-5120-4A76-95DF-4536937EFDDD}"/>
              </a:ext>
            </a:extLst>
          </p:cNvPr>
          <p:cNvSpPr>
            <a:spLocks noGrp="1"/>
          </p:cNvSpPr>
          <p:nvPr/>
        </p:nvSpPr>
        <p:spPr>
          <a:xfrm>
            <a:off x="8210550" y="4286250"/>
            <a:ext cx="914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5089E1-3BD4-41E3-84C3-26ABFB159433}"/>
              </a:ext>
            </a:extLst>
          </p:cNvPr>
          <p:cNvSpPr>
            <a:spLocks noGrp="1"/>
          </p:cNvSpPr>
          <p:nvPr/>
        </p:nvSpPr>
        <p:spPr>
          <a:xfrm>
            <a:off x="8210550" y="464820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9D4E5"/>
                </a:solidFill>
                <a:latin typeface="Aptos"/>
                <a:ea typeface="Aptos"/>
                <a:cs typeface="Aptos"/>
              </a:rPr>
              <a:t>roles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326CCB-F1F9-42F5-A50D-B2DA1F7DBA22}"/>
              </a:ext>
            </a:extLst>
          </p:cNvPr>
          <p:cNvSpPr>
            <a:spLocks noGrp="1"/>
          </p:cNvSpPr>
          <p:nvPr/>
        </p:nvSpPr>
        <p:spPr>
          <a:xfrm>
            <a:off x="8210550" y="481965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55" b="0">
                <a:solidFill>
                  <a:srgbClr val="9AA8BC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9AA8BC"/>
                </a:solidFill>
                <a:latin typeface="Aptos"/>
                <a:ea typeface="Aptos"/>
                <a:cs typeface="Aptos"/>
              </a:rPr>
              <a:t>3 espaces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7739C1-557B-4124-B723-32540E0A151E}"/>
              </a:ext>
            </a:extLst>
          </p:cNvPr>
          <p:cNvSpPr>
            <a:spLocks noGrp="1"/>
          </p:cNvSpPr>
          <p:nvPr/>
        </p:nvSpPr>
        <p:spPr>
          <a:xfrm>
            <a:off x="9334500" y="4210050"/>
            <a:ext cx="9525" cy="552450"/>
          </a:xfrm>
          <a:prstGeom prst="rect">
            <a:avLst/>
          </a:prstGeom>
          <a:solidFill>
            <a:srgbClr val="EC48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662A75-F468-4840-ABD7-F168BE8EB452}"/>
              </a:ext>
            </a:extLst>
          </p:cNvPr>
          <p:cNvSpPr>
            <a:spLocks noGrp="1"/>
          </p:cNvSpPr>
          <p:nvPr/>
        </p:nvSpPr>
        <p:spPr>
          <a:xfrm>
            <a:off x="9467850" y="4286250"/>
            <a:ext cx="914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BA2AF6-FD8C-4976-AC2F-C342A2EF3AF3}"/>
              </a:ext>
            </a:extLst>
          </p:cNvPr>
          <p:cNvSpPr>
            <a:spLocks noGrp="1"/>
          </p:cNvSpPr>
          <p:nvPr/>
        </p:nvSpPr>
        <p:spPr>
          <a:xfrm>
            <a:off x="9467850" y="464820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9D4E5"/>
                </a:solidFill>
                <a:latin typeface="Aptos"/>
                <a:ea typeface="Aptos"/>
                <a:cs typeface="Aptos"/>
              </a:rPr>
              <a:t>categories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166792B-C375-4E1E-96DA-1866CA3A8698}"/>
              </a:ext>
            </a:extLst>
          </p:cNvPr>
          <p:cNvSpPr>
            <a:spLocks noGrp="1"/>
          </p:cNvSpPr>
          <p:nvPr/>
        </p:nvSpPr>
        <p:spPr>
          <a:xfrm>
            <a:off x="9467850" y="481965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55" b="0">
                <a:solidFill>
                  <a:srgbClr val="9AA8BC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9AA8BC"/>
                </a:solidFill>
                <a:latin typeface="Aptos"/>
                <a:ea typeface="Aptos"/>
                <a:cs typeface="Aptos"/>
              </a:rPr>
              <a:t>catalogue riche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697085-6CCD-4026-BF47-D57899DAF65C}"/>
              </a:ext>
            </a:extLst>
          </p:cNvPr>
          <p:cNvSpPr>
            <a:spLocks noGrp="1"/>
          </p:cNvSpPr>
          <p:nvPr/>
        </p:nvSpPr>
        <p:spPr>
          <a:xfrm>
            <a:off x="10553700" y="4210050"/>
            <a:ext cx="9525" cy="5524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21F8846-92DF-4774-B1EF-BBF8B5D60D1B}"/>
              </a:ext>
            </a:extLst>
          </p:cNvPr>
          <p:cNvSpPr>
            <a:spLocks noGrp="1"/>
          </p:cNvSpPr>
          <p:nvPr/>
        </p:nvSpPr>
        <p:spPr>
          <a:xfrm>
            <a:off x="10687050" y="4286250"/>
            <a:ext cx="914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2C183E5-44C1-4B51-8569-2E2CDF4AC46C}"/>
              </a:ext>
            </a:extLst>
          </p:cNvPr>
          <p:cNvSpPr>
            <a:spLocks noGrp="1"/>
          </p:cNvSpPr>
          <p:nvPr/>
        </p:nvSpPr>
        <p:spPr>
          <a:xfrm>
            <a:off x="10687050" y="4648200"/>
            <a:ext cx="9144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1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C9D4E5"/>
                </a:solidFill>
                <a:latin typeface="Aptos"/>
                <a:ea typeface="Aptos"/>
                <a:cs typeface="Aptos"/>
              </a:rPr>
              <a:t>donnees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948DFB-AE55-4F7F-83E4-D1CF4C426FB3}"/>
              </a:ext>
            </a:extLst>
          </p:cNvPr>
          <p:cNvSpPr>
            <a:spLocks noGrp="1"/>
          </p:cNvSpPr>
          <p:nvPr/>
        </p:nvSpPr>
        <p:spPr>
          <a:xfrm>
            <a:off x="10687050" y="4819650"/>
            <a:ext cx="914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55" b="0">
                <a:solidFill>
                  <a:srgbClr val="9AA8BC"/>
                </a:solidFill>
                <a:latin typeface="Aptos"/>
                <a:ea typeface="Aptos"/>
                <a:cs typeface="Aptos"/>
              </a:defRPr>
            </a:pPr>
            <a:r>
              <a:rPr sz="555" b="0">
                <a:solidFill>
                  <a:srgbClr val="9AA8BC"/>
                </a:solidFill>
                <a:latin typeface="Aptos"/>
                <a:ea typeface="Aptos"/>
                <a:cs typeface="Aptos"/>
              </a:rPr>
              <a:t>Provider streams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33835F-AC9A-4655-840D-A5DC557C6500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9525"/>
          </a:xfrm>
          <a:prstGeom prst="rect">
            <a:avLst/>
          </a:prstGeom>
          <a:solidFill>
            <a:srgbClr val="3841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98916A9-620E-4A9E-8553-1D6C21046E5C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7429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DevMob presentation moderne animee | Flutter + Firebase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8F094F-9E32-4D81-8BBF-E8FCFC4082E3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AAB6C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AB6C8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7204176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F91A6BBC-54D6-4897-84F8-9E80D48A46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D943CE98-EFA6-4124-A5FB-8815FB2A77A9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ellipse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1CFC7E5D-E35A-48D4-8A8A-4C24FF0E11F9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PROBLEME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2EF19E-3093-4055-838A-0F54E3496680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L'evenement local se perd quand les parcours restent separes.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57493-DDB9-447B-AD23-6D1EE0FDD657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7239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DevMob traite trois frictions en meme temps: trouver un evenement, remplir une salle, et garder la plateforme sous controle.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71233A-C758-4A8C-BBD7-D9248C2BEB58}"/>
              </a:ext>
            </a:extLst>
          </p:cNvPr>
          <p:cNvSpPr>
            <a:spLocks noGrp="1"/>
          </p:cNvSpPr>
          <p:nvPr/>
        </p:nvSpPr>
        <p:spPr>
          <a:xfrm>
            <a:off x="742950" y="2724150"/>
            <a:ext cx="28575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Graphique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09650" y="3028950"/>
            <a:ext cx="323850" cy="3238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6B61C5B-850F-47FE-A86F-B1A5669484AA}"/>
              </a:ext>
            </a:extLst>
          </p:cNvPr>
          <p:cNvSpPr>
            <a:spLocks noGrp="1"/>
          </p:cNvSpPr>
          <p:nvPr/>
        </p:nvSpPr>
        <p:spPr>
          <a:xfrm>
            <a:off x="1009650" y="3524250"/>
            <a:ext cx="2152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Participants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FC92EC-3A18-41BF-A804-6075CE9A888B}"/>
              </a:ext>
            </a:extLst>
          </p:cNvPr>
          <p:cNvSpPr>
            <a:spLocks noGrp="1"/>
          </p:cNvSpPr>
          <p:nvPr/>
        </p:nvSpPr>
        <p:spPr>
          <a:xfrm>
            <a:off x="1009650" y="3943350"/>
            <a:ext cx="876300" cy="28575"/>
          </a:xfrm>
          <a:prstGeom prst="rect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70D02-D0CD-4376-A689-B2555349388E}"/>
              </a:ext>
            </a:extLst>
          </p:cNvPr>
          <p:cNvSpPr>
            <a:spLocks noGrp="1"/>
          </p:cNvSpPr>
          <p:nvPr/>
        </p:nvSpPr>
        <p:spPr>
          <a:xfrm>
            <a:off x="1009650" y="4210050"/>
            <a:ext cx="22383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Chercher, comparer, reserver et retrouver ses billets sans changer d'outil.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40A072-C4AA-4433-BB38-2EE2F3A1D385}"/>
              </a:ext>
            </a:extLst>
          </p:cNvPr>
          <p:cNvSpPr>
            <a:spLocks noGrp="1"/>
          </p:cNvSpPr>
          <p:nvPr/>
        </p:nvSpPr>
        <p:spPr>
          <a:xfrm>
            <a:off x="4457700" y="2724150"/>
            <a:ext cx="28575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Graphique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724400" y="3028950"/>
            <a:ext cx="323850" cy="32385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762C04E-4BE7-4D31-946E-3B4CB9D6E2EC}"/>
              </a:ext>
            </a:extLst>
          </p:cNvPr>
          <p:cNvSpPr>
            <a:spLocks noGrp="1"/>
          </p:cNvSpPr>
          <p:nvPr/>
        </p:nvSpPr>
        <p:spPr>
          <a:xfrm>
            <a:off x="4724400" y="3524250"/>
            <a:ext cx="2152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Organisateurs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04EBBD-2454-4791-8F73-A23DD00EC9D4}"/>
              </a:ext>
            </a:extLst>
          </p:cNvPr>
          <p:cNvSpPr>
            <a:spLocks noGrp="1"/>
          </p:cNvSpPr>
          <p:nvPr/>
        </p:nvSpPr>
        <p:spPr>
          <a:xfrm>
            <a:off x="4724400" y="3943350"/>
            <a:ext cx="876300" cy="2857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4C116B-7ADE-46B3-BCF4-E114409337BA}"/>
              </a:ext>
            </a:extLst>
          </p:cNvPr>
          <p:cNvSpPr>
            <a:spLocks noGrp="1"/>
          </p:cNvSpPr>
          <p:nvPr/>
        </p:nvSpPr>
        <p:spPr>
          <a:xfrm>
            <a:off x="4724400" y="4210050"/>
            <a:ext cx="22383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Publier, suivre les reservations et mesurer la satisfaction depuis un seul espace.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52FF3B-3C29-4B42-9C8C-1BA23E5718EE}"/>
              </a:ext>
            </a:extLst>
          </p:cNvPr>
          <p:cNvSpPr>
            <a:spLocks noGrp="1"/>
          </p:cNvSpPr>
          <p:nvPr/>
        </p:nvSpPr>
        <p:spPr>
          <a:xfrm>
            <a:off x="8172450" y="2724150"/>
            <a:ext cx="2857500" cy="21907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Graphique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8439150" y="3028950"/>
            <a:ext cx="323850" cy="3238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59F5631-FEC0-4ACA-B652-448E19D24B8F}"/>
              </a:ext>
            </a:extLst>
          </p:cNvPr>
          <p:cNvSpPr>
            <a:spLocks noGrp="1"/>
          </p:cNvSpPr>
          <p:nvPr/>
        </p:nvSpPr>
        <p:spPr>
          <a:xfrm>
            <a:off x="8439150" y="3524250"/>
            <a:ext cx="2152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Administration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45D28CD-AA37-4274-AC5A-BA970A2C7C1A}"/>
              </a:ext>
            </a:extLst>
          </p:cNvPr>
          <p:cNvSpPr>
            <a:spLocks noGrp="1"/>
          </p:cNvSpPr>
          <p:nvPr/>
        </p:nvSpPr>
        <p:spPr>
          <a:xfrm>
            <a:off x="8439150" y="3943350"/>
            <a:ext cx="876300" cy="28575"/>
          </a:xfrm>
          <a:prstGeom prst="rect">
            <a:avLst/>
          </a:prstGeom>
          <a:solidFill>
            <a:srgbClr val="EC48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9D8388-DB4F-45E0-A6BE-6F51560C72BA}"/>
              </a:ext>
            </a:extLst>
          </p:cNvPr>
          <p:cNvSpPr>
            <a:spLocks noGrp="1"/>
          </p:cNvSpPr>
          <p:nvPr/>
        </p:nvSpPr>
        <p:spPr>
          <a:xfrm>
            <a:off x="8439150" y="4210050"/>
            <a:ext cx="2238375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Superviser utilisateurs, evenements et notifications avec des droits clairs.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D7DEE0-0596-4508-9F7D-131B08A0971D}"/>
              </a:ext>
            </a:extLst>
          </p:cNvPr>
          <p:cNvSpPr>
            <a:spLocks noGrp="1"/>
          </p:cNvSpPr>
          <p:nvPr/>
        </p:nvSpPr>
        <p:spPr>
          <a:xfrm>
            <a:off x="1285875" y="5372100"/>
            <a:ext cx="9429750" cy="19050"/>
          </a:xfrm>
          <a:prstGeom prst="rect">
            <a:avLst/>
          </a:prstGeom>
          <a:solidFill>
            <a:srgbClr val="E6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BB38A1-7CAE-4A2C-9347-12E46199CD17}"/>
              </a:ext>
            </a:extLst>
          </p:cNvPr>
          <p:cNvSpPr>
            <a:spLocks noGrp="1"/>
          </p:cNvSpPr>
          <p:nvPr/>
        </p:nvSpPr>
        <p:spPr>
          <a:xfrm>
            <a:off x="2362200" y="5181600"/>
            <a:ext cx="723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These: une seule boucle produit remplace une chaine d'outils disperses.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A2E55E-0E84-4218-92B1-65EA8A041BE5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9525"/>
          </a:xfrm>
          <a:prstGeom prst="rect">
            <a:avLst/>
          </a:prstGeom>
          <a:solidFill>
            <a:srgbClr val="E6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1A3C09-A25D-4817-ABE8-8340C4FE9020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7429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Source: code DevMob Flutter/Firebase - C:/Cours flutter/devmob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DC7B3AB-A126-4E66-AB6D-37EAC411DB9D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08912471"/>
      </p:ext>
    </p:extLst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46CE11F-2CEA-4EB7-A95D-466621B64D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F20D6DD-E53F-4CE6-B5DF-E170A6A83D7C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ellipse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3194E59-5130-43B9-98BB-D67B042B145D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SYSTEME PRODUIT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F75C32-4440-445B-9D6E-7E64C46D480B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DevMob organise la plateforme autour de roles, pas d'ecrans isoles.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6E7235A-80A0-49B6-A92D-D741EF4A3AB6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7524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Le routage de l'application envoie chaque utilisateur vers son espace: tableau admin, cockpit organisateur ou shell participant.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971311-899E-4526-95B2-5AD6595852F8}"/>
              </a:ext>
            </a:extLst>
          </p:cNvPr>
          <p:cNvSpPr>
            <a:spLocks noGrp="1"/>
          </p:cNvSpPr>
          <p:nvPr/>
        </p:nvSpPr>
        <p:spPr>
          <a:xfrm>
            <a:off x="742950" y="2552700"/>
            <a:ext cx="2781300" cy="2190750"/>
          </a:xfrm>
          <a:prstGeom prst="rect">
            <a:avLst/>
          </a:prstGeom>
          <a:solidFill>
            <a:srgbClr val="F8FAFF"/>
          </a:solidFill>
          <a:ln w="9525">
            <a:solidFill>
              <a:srgbClr val="E0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7" name="Graphique 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1009650" y="2857500"/>
            <a:ext cx="304800" cy="3048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8CA4207-CEDF-4808-99E9-158FBB0022FE}"/>
              </a:ext>
            </a:extLst>
          </p:cNvPr>
          <p:cNvSpPr>
            <a:spLocks noGrp="1"/>
          </p:cNvSpPr>
          <p:nvPr/>
        </p:nvSpPr>
        <p:spPr>
          <a:xfrm>
            <a:off x="1428750" y="2876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Utilisateur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5E5F22-6737-4617-8290-8730EC19A690}"/>
              </a:ext>
            </a:extLst>
          </p:cNvPr>
          <p:cNvSpPr>
            <a:spLocks noGrp="1"/>
          </p:cNvSpPr>
          <p:nvPr/>
        </p:nvSpPr>
        <p:spPr>
          <a:xfrm>
            <a:off x="1009650" y="3371850"/>
            <a:ext cx="2247900" cy="28575"/>
          </a:xfrm>
          <a:prstGeom prst="rect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3E1666-BFE0-40DE-9952-E2FEC2FA639B}"/>
              </a:ext>
            </a:extLst>
          </p:cNvPr>
          <p:cNvSpPr>
            <a:spLocks noGrp="1"/>
          </p:cNvSpPr>
          <p:nvPr/>
        </p:nvSpPr>
        <p:spPr>
          <a:xfrm>
            <a:off x="1028700" y="3638550"/>
            <a:ext cx="2095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Explorer</a:t>
            </a:r>
          </a:p>
          <a:p>
            <a:pPr algn="l">
              <a:defRPr sz="114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Calendrier</a:t>
            </a:r>
          </a:p>
          <a:p>
            <a:pPr algn="l">
              <a:defRPr sz="114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Carte</a:t>
            </a:r>
          </a:p>
          <a:p>
            <a:pPr algn="l">
              <a:defRPr sz="114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Reservations</a:t>
            </a:r>
          </a:p>
          <a:p>
            <a:pPr algn="l">
              <a:defRPr sz="114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Profil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A4197C-6880-462E-AB18-2DD3D4FDDE3D}"/>
              </a:ext>
            </a:extLst>
          </p:cNvPr>
          <p:cNvSpPr>
            <a:spLocks noGrp="1"/>
          </p:cNvSpPr>
          <p:nvPr/>
        </p:nvSpPr>
        <p:spPr>
          <a:xfrm>
            <a:off x="4171950" y="2552700"/>
            <a:ext cx="2781300" cy="2190750"/>
          </a:xfrm>
          <a:prstGeom prst="rect">
            <a:avLst/>
          </a:prstGeom>
          <a:solidFill>
            <a:srgbClr val="F8FAFF"/>
          </a:solidFill>
          <a:ln w="9525">
            <a:solidFill>
              <a:srgbClr val="E0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2" name="Graphique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4438650" y="2857500"/>
            <a:ext cx="304800" cy="3048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3EDBCF5-3057-43E4-B69B-C369C15E0400}"/>
              </a:ext>
            </a:extLst>
          </p:cNvPr>
          <p:cNvSpPr>
            <a:spLocks noGrp="1"/>
          </p:cNvSpPr>
          <p:nvPr/>
        </p:nvSpPr>
        <p:spPr>
          <a:xfrm>
            <a:off x="4857750" y="2876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Organisateur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D453A3-6FD6-441F-B66A-45F60B80F21C}"/>
              </a:ext>
            </a:extLst>
          </p:cNvPr>
          <p:cNvSpPr>
            <a:spLocks noGrp="1"/>
          </p:cNvSpPr>
          <p:nvPr/>
        </p:nvSpPr>
        <p:spPr>
          <a:xfrm>
            <a:off x="4438650" y="3371850"/>
            <a:ext cx="2247900" cy="28575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FC868C-3031-4D5C-97EE-794D5AB44274}"/>
              </a:ext>
            </a:extLst>
          </p:cNvPr>
          <p:cNvSpPr>
            <a:spLocks noGrp="1"/>
          </p:cNvSpPr>
          <p:nvPr/>
        </p:nvSpPr>
        <p:spPr>
          <a:xfrm>
            <a:off x="4457700" y="3638550"/>
            <a:ext cx="2095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Mes evenements</a:t>
            </a:r>
          </a:p>
          <a:p>
            <a:pPr algn="l">
              <a:defRPr sz="114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Creation</a:t>
            </a:r>
          </a:p>
          <a:p>
            <a:pPr algn="l">
              <a:defRPr sz="114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Reservations</a:t>
            </a:r>
          </a:p>
          <a:p>
            <a:pPr algn="l">
              <a:defRPr sz="114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Statistiques</a:t>
            </a:r>
          </a:p>
          <a:p>
            <a:pPr algn="l">
              <a:defRPr sz="114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Profil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641FFB-0BF6-44CA-A4ED-A5BFC1DE1743}"/>
              </a:ext>
            </a:extLst>
          </p:cNvPr>
          <p:cNvSpPr>
            <a:spLocks noGrp="1"/>
          </p:cNvSpPr>
          <p:nvPr/>
        </p:nvSpPr>
        <p:spPr>
          <a:xfrm>
            <a:off x="7600950" y="2552700"/>
            <a:ext cx="2781300" cy="2190750"/>
          </a:xfrm>
          <a:prstGeom prst="rect">
            <a:avLst/>
          </a:prstGeom>
          <a:solidFill>
            <a:srgbClr val="F8FAFF"/>
          </a:solidFill>
          <a:ln w="9525">
            <a:solidFill>
              <a:srgbClr val="E0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Graphique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7867650" y="2857500"/>
            <a:ext cx="304800" cy="3048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61A73CA8-FD83-4BE3-B6F0-5A012B8B9BDB}"/>
              </a:ext>
            </a:extLst>
          </p:cNvPr>
          <p:cNvSpPr>
            <a:spLocks noGrp="1"/>
          </p:cNvSpPr>
          <p:nvPr/>
        </p:nvSpPr>
        <p:spPr>
          <a:xfrm>
            <a:off x="8286750" y="2876550"/>
            <a:ext cx="1619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Admin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204BBCB-5C14-41D5-866A-0CC29AA45A88}"/>
              </a:ext>
            </a:extLst>
          </p:cNvPr>
          <p:cNvSpPr>
            <a:spLocks noGrp="1"/>
          </p:cNvSpPr>
          <p:nvPr/>
        </p:nvSpPr>
        <p:spPr>
          <a:xfrm>
            <a:off x="7867650" y="3371850"/>
            <a:ext cx="2247900" cy="28575"/>
          </a:xfrm>
          <a:prstGeom prst="rect">
            <a:avLst/>
          </a:prstGeom>
          <a:solidFill>
            <a:srgbClr val="EC48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196F96-0D22-4B42-AB31-DFD8FE6DFA7B}"/>
              </a:ext>
            </a:extLst>
          </p:cNvPr>
          <p:cNvSpPr>
            <a:spLocks noGrp="1"/>
          </p:cNvSpPr>
          <p:nvPr/>
        </p:nvSpPr>
        <p:spPr>
          <a:xfrm>
            <a:off x="7886700" y="3638550"/>
            <a:ext cx="20955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4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Utilisateurs</a:t>
            </a:r>
          </a:p>
          <a:p>
            <a:pPr algn="l">
              <a:defRPr sz="114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Evenements</a:t>
            </a:r>
          </a:p>
          <a:p>
            <a:pPr algn="l">
              <a:defRPr sz="114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Notifications</a:t>
            </a:r>
          </a:p>
          <a:p>
            <a:pPr algn="l">
              <a:defRPr sz="1140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1140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Profil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561C94-6F8D-4EDC-9E54-AB8DEDFC8875}"/>
              </a:ext>
            </a:extLst>
          </p:cNvPr>
          <p:cNvSpPr>
            <a:spLocks noGrp="1"/>
          </p:cNvSpPr>
          <p:nvPr/>
        </p:nvSpPr>
        <p:spPr>
          <a:xfrm>
            <a:off x="2152650" y="5162550"/>
            <a:ext cx="7886700" cy="4953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66D9AA-B9A6-4F42-A066-0E76926FF6A5}"/>
              </a:ext>
            </a:extLst>
          </p:cNvPr>
          <p:cNvSpPr>
            <a:spLocks noGrp="1"/>
          </p:cNvSpPr>
          <p:nvPr/>
        </p:nvSpPr>
        <p:spPr>
          <a:xfrm>
            <a:off x="2381250" y="5314950"/>
            <a:ext cx="7429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Routage central: AuthProvider + UserRole orientent toute l'experience.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1F1781-08FD-4EE5-B4E3-D19B5F088B2E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9525"/>
          </a:xfrm>
          <a:prstGeom prst="rect">
            <a:avLst/>
          </a:prstGeom>
          <a:solidFill>
            <a:srgbClr val="E6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66F6D1-CB74-4BAA-B6CF-FA71902D69E6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7429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Sources: lib/main.dart, models/user.dart, views/admin, views/organizer, views/home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B7C771E-3CB9-44DD-BF7E-FB31403A8143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07232999"/>
      </p:ext>
    </p:extLst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80FD41AE-5E2C-4629-A6FF-D177D6BF59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5559E872-6765-4AB7-8A76-064082AD4056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ellipse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8404DCB-5C23-4DC5-8719-D0F8FAA206CC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PARCOURS PARTICIPANT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002522-E91C-4F98-82E1-69983FE59A40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Le participant passe de l'intention a la reservation sans rupture.</a:t>
            </a:r>
          </a:p>
        </p:txBody>
      </p:sp>
      <p:pic>
        <p:nvPicPr>
          <p:cNvPr id="5" name="Graphiqu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609600" y="2190750"/>
            <a:ext cx="285750" cy="285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EB25338-A9FB-4A29-9C0D-CE3AAA78FD15}"/>
              </a:ext>
            </a:extLst>
          </p:cNvPr>
          <p:cNvSpPr>
            <a:spLocks noGrp="1"/>
          </p:cNvSpPr>
          <p:nvPr/>
        </p:nvSpPr>
        <p:spPr>
          <a:xfrm>
            <a:off x="609600" y="2667000"/>
            <a:ext cx="43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6366F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6366F1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24D9E5-68B0-4E83-BC6C-C85230CFED5D}"/>
              </a:ext>
            </a:extLst>
          </p:cNvPr>
          <p:cNvSpPr>
            <a:spLocks noGrp="1"/>
          </p:cNvSpPr>
          <p:nvPr/>
        </p:nvSpPr>
        <p:spPr>
          <a:xfrm>
            <a:off x="609600" y="30099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Decouvrir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CFEAAB-AB19-40FE-BD90-E1BC3E590596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152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Recherche + filtres par categorie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FBE417-5DC3-4985-BFFB-C11EF022201E}"/>
              </a:ext>
            </a:extLst>
          </p:cNvPr>
          <p:cNvSpPr>
            <a:spLocks noGrp="1"/>
          </p:cNvSpPr>
          <p:nvPr/>
        </p:nvSpPr>
        <p:spPr>
          <a:xfrm>
            <a:off x="1676400" y="2343150"/>
            <a:ext cx="476250" cy="19050"/>
          </a:xfrm>
          <a:prstGeom prst="rect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0" name="Graphique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2286000" y="2190750"/>
            <a:ext cx="285750" cy="28575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432ADA6-6C88-404C-981B-447A6335300D}"/>
              </a:ext>
            </a:extLst>
          </p:cNvPr>
          <p:cNvSpPr>
            <a:spLocks noGrp="1"/>
          </p:cNvSpPr>
          <p:nvPr/>
        </p:nvSpPr>
        <p:spPr>
          <a:xfrm>
            <a:off x="2286000" y="2667000"/>
            <a:ext cx="43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02BA62-40B5-4914-8641-87C873F1EECD}"/>
              </a:ext>
            </a:extLst>
          </p:cNvPr>
          <p:cNvSpPr>
            <a:spLocks noGrp="1"/>
          </p:cNvSpPr>
          <p:nvPr/>
        </p:nvSpPr>
        <p:spPr>
          <a:xfrm>
            <a:off x="2286000" y="30099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Situer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35A243-D15F-47FF-A56E-293AEBF987A0}"/>
              </a:ext>
            </a:extLst>
          </p:cNvPr>
          <p:cNvSpPr>
            <a:spLocks noGrp="1"/>
          </p:cNvSpPr>
          <p:nvPr/>
        </p:nvSpPr>
        <p:spPr>
          <a:xfrm>
            <a:off x="2286000" y="3333750"/>
            <a:ext cx="152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Carte et calendrier en francais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F90D13-48FF-482A-BC48-41C7D86E7C55}"/>
              </a:ext>
            </a:extLst>
          </p:cNvPr>
          <p:cNvSpPr>
            <a:spLocks noGrp="1"/>
          </p:cNvSpPr>
          <p:nvPr/>
        </p:nvSpPr>
        <p:spPr>
          <a:xfrm>
            <a:off x="3352800" y="2343150"/>
            <a:ext cx="476250" cy="190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5" name="Graphique 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3962400" y="2190750"/>
            <a:ext cx="285750" cy="28575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B1E5721-D45D-41F0-888E-9FC53B160A07}"/>
              </a:ext>
            </a:extLst>
          </p:cNvPr>
          <p:cNvSpPr>
            <a:spLocks noGrp="1"/>
          </p:cNvSpPr>
          <p:nvPr/>
        </p:nvSpPr>
        <p:spPr>
          <a:xfrm>
            <a:off x="3962400" y="2667000"/>
            <a:ext cx="43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AAF39B-A43D-4558-9227-E751298DB67A}"/>
              </a:ext>
            </a:extLst>
          </p:cNvPr>
          <p:cNvSpPr>
            <a:spLocks noGrp="1"/>
          </p:cNvSpPr>
          <p:nvPr/>
        </p:nvSpPr>
        <p:spPr>
          <a:xfrm>
            <a:off x="3962400" y="30099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Evaluer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32EB51-D72C-42AE-8987-160C8E95FDEB}"/>
              </a:ext>
            </a:extLst>
          </p:cNvPr>
          <p:cNvSpPr>
            <a:spLocks noGrp="1"/>
          </p:cNvSpPr>
          <p:nvPr/>
        </p:nvSpPr>
        <p:spPr>
          <a:xfrm>
            <a:off x="3962400" y="3333750"/>
            <a:ext cx="152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Date, lieu, places, prix, avis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F142FC-8801-44EA-ADE5-9166825C4453}"/>
              </a:ext>
            </a:extLst>
          </p:cNvPr>
          <p:cNvSpPr>
            <a:spLocks noGrp="1"/>
          </p:cNvSpPr>
          <p:nvPr/>
        </p:nvSpPr>
        <p:spPr>
          <a:xfrm>
            <a:off x="5029200" y="2343150"/>
            <a:ext cx="476250" cy="190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0" name="Graphique 1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638800" y="2190750"/>
            <a:ext cx="285750" cy="28575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64B32D6-15D3-4A5E-ACB6-2A8177D67B41}"/>
              </a:ext>
            </a:extLst>
          </p:cNvPr>
          <p:cNvSpPr>
            <a:spLocks noGrp="1"/>
          </p:cNvSpPr>
          <p:nvPr/>
        </p:nvSpPr>
        <p:spPr>
          <a:xfrm>
            <a:off x="5638800" y="2667000"/>
            <a:ext cx="43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E88FFB-62DD-4A97-86D3-4CAB1B0205EA}"/>
              </a:ext>
            </a:extLst>
          </p:cNvPr>
          <p:cNvSpPr>
            <a:spLocks noGrp="1"/>
          </p:cNvSpPr>
          <p:nvPr/>
        </p:nvSpPr>
        <p:spPr>
          <a:xfrm>
            <a:off x="5638800" y="30099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Reserver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35A9752-82C6-4B5D-80C0-A695E0959F02}"/>
              </a:ext>
            </a:extLst>
          </p:cNvPr>
          <p:cNvSpPr>
            <a:spLocks noGrp="1"/>
          </p:cNvSpPr>
          <p:nvPr/>
        </p:nvSpPr>
        <p:spPr>
          <a:xfrm>
            <a:off x="5638800" y="3333750"/>
            <a:ext cx="152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Stepper tickets + paiement simule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81AFF0-5E2B-40CA-A1EA-715A98FA3819}"/>
              </a:ext>
            </a:extLst>
          </p:cNvPr>
          <p:cNvSpPr>
            <a:spLocks noGrp="1"/>
          </p:cNvSpPr>
          <p:nvPr/>
        </p:nvSpPr>
        <p:spPr>
          <a:xfrm>
            <a:off x="6705600" y="2343150"/>
            <a:ext cx="476250" cy="190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5" name="Graphique 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7315200" y="2190750"/>
            <a:ext cx="285750" cy="28575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FC84FD0A-651B-4E3A-BB8B-25D23E9E0DD4}"/>
              </a:ext>
            </a:extLst>
          </p:cNvPr>
          <p:cNvSpPr>
            <a:spLocks noGrp="1"/>
          </p:cNvSpPr>
          <p:nvPr/>
        </p:nvSpPr>
        <p:spPr>
          <a:xfrm>
            <a:off x="7315200" y="2667000"/>
            <a:ext cx="4381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EC489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C4899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6A0C96-2E6D-43B7-875C-74360D819D10}"/>
              </a:ext>
            </a:extLst>
          </p:cNvPr>
          <p:cNvSpPr>
            <a:spLocks noGrp="1"/>
          </p:cNvSpPr>
          <p:nvPr/>
        </p:nvSpPr>
        <p:spPr>
          <a:xfrm>
            <a:off x="7315200" y="30099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Partager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9FDF44-5528-4EC9-97C3-34AD4240F7DE}"/>
              </a:ext>
            </a:extLst>
          </p:cNvPr>
          <p:cNvSpPr>
            <a:spLocks noGrp="1"/>
          </p:cNvSpPr>
          <p:nvPr/>
        </p:nvSpPr>
        <p:spPr>
          <a:xfrm>
            <a:off x="7315200" y="3333750"/>
            <a:ext cx="152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1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Avis et commentaires par evenement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DBAE673-5927-430C-B3E6-CB4A59441EAB}"/>
              </a:ext>
            </a:extLst>
          </p:cNvPr>
          <p:cNvSpPr>
            <a:spLocks noGrp="1"/>
          </p:cNvSpPr>
          <p:nvPr/>
        </p:nvSpPr>
        <p:spPr>
          <a:xfrm>
            <a:off x="8601075" y="762000"/>
            <a:ext cx="2000250" cy="4095750"/>
          </a:xfrm>
          <a:prstGeom prst="rect">
            <a:avLst/>
          </a:prstGeom>
          <a:solidFill>
            <a:srgbClr val="111827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A53A03C-F449-4D74-903E-1DE1472886CF}"/>
              </a:ext>
            </a:extLst>
          </p:cNvPr>
          <p:cNvSpPr>
            <a:spLocks noGrp="1"/>
          </p:cNvSpPr>
          <p:nvPr/>
        </p:nvSpPr>
        <p:spPr>
          <a:xfrm>
            <a:off x="8696325" y="857250"/>
            <a:ext cx="1809750" cy="3905250"/>
          </a:xfrm>
          <a:prstGeom prst="rect">
            <a:avLst/>
          </a:prstGeom>
          <a:solidFill>
            <a:srgbClr val="F8F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2DD1DE-2103-4A60-BCE5-88AFB12A73B3}"/>
              </a:ext>
            </a:extLst>
          </p:cNvPr>
          <p:cNvSpPr>
            <a:spLocks noGrp="1"/>
          </p:cNvSpPr>
          <p:nvPr/>
        </p:nvSpPr>
        <p:spPr>
          <a:xfrm>
            <a:off x="8839200" y="1047750"/>
            <a:ext cx="1524000" cy="419100"/>
          </a:xfrm>
          <a:prstGeom prst="rect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0B68320-2CE2-411E-8F34-E1D2F25B6D49}"/>
              </a:ext>
            </a:extLst>
          </p:cNvPr>
          <p:cNvSpPr>
            <a:spLocks noGrp="1"/>
          </p:cNvSpPr>
          <p:nvPr/>
        </p:nvSpPr>
        <p:spPr>
          <a:xfrm>
            <a:off x="8963025" y="1181100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Evenements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55BBF57-9BA5-4CCC-AFEA-DD28C3240219}"/>
              </a:ext>
            </a:extLst>
          </p:cNvPr>
          <p:cNvSpPr>
            <a:spLocks noGrp="1"/>
          </p:cNvSpPr>
          <p:nvPr/>
        </p:nvSpPr>
        <p:spPr>
          <a:xfrm>
            <a:off x="8848725" y="1676400"/>
            <a:ext cx="15049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06673D85-7F17-4086-9529-D60644AC69C5}"/>
              </a:ext>
            </a:extLst>
          </p:cNvPr>
          <p:cNvSpPr>
            <a:spLocks noGrp="1"/>
          </p:cNvSpPr>
          <p:nvPr/>
        </p:nvSpPr>
        <p:spPr>
          <a:xfrm>
            <a:off x="8963025" y="1800225"/>
            <a:ext cx="171450" cy="171450"/>
          </a:xfrm>
          <a:prstGeom prst="ellipse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C87459-F71F-4232-9DDA-4E2806E46EDF}"/>
              </a:ext>
            </a:extLst>
          </p:cNvPr>
          <p:cNvSpPr>
            <a:spLocks noGrp="1"/>
          </p:cNvSpPr>
          <p:nvPr/>
        </p:nvSpPr>
        <p:spPr>
          <a:xfrm>
            <a:off x="9229725" y="1781175"/>
            <a:ext cx="876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Tech meetup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662E3A-72BC-4939-AEA2-4396DBBCB04A}"/>
              </a:ext>
            </a:extLst>
          </p:cNvPr>
          <p:cNvSpPr>
            <a:spLocks noGrp="1"/>
          </p:cNvSpPr>
          <p:nvPr/>
        </p:nvSpPr>
        <p:spPr>
          <a:xfrm>
            <a:off x="9229725" y="1924050"/>
            <a:ext cx="8763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0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0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date + lieu + places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0470918-E5DC-4F0C-8001-24981A7A15AD}"/>
              </a:ext>
            </a:extLst>
          </p:cNvPr>
          <p:cNvSpPr>
            <a:spLocks noGrp="1"/>
          </p:cNvSpPr>
          <p:nvPr/>
        </p:nvSpPr>
        <p:spPr>
          <a:xfrm>
            <a:off x="8848725" y="2266950"/>
            <a:ext cx="15049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D54841C9-64AA-4774-890F-6F73FC661D37}"/>
              </a:ext>
            </a:extLst>
          </p:cNvPr>
          <p:cNvSpPr>
            <a:spLocks noGrp="1"/>
          </p:cNvSpPr>
          <p:nvPr/>
        </p:nvSpPr>
        <p:spPr>
          <a:xfrm>
            <a:off x="8963025" y="2390775"/>
            <a:ext cx="171450" cy="171450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DACDDA-D671-4455-AF35-D68BF26D309B}"/>
              </a:ext>
            </a:extLst>
          </p:cNvPr>
          <p:cNvSpPr>
            <a:spLocks noGrp="1"/>
          </p:cNvSpPr>
          <p:nvPr/>
        </p:nvSpPr>
        <p:spPr>
          <a:xfrm>
            <a:off x="9229725" y="2371725"/>
            <a:ext cx="876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Concert live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B2DED0A-3C5A-473A-AC1E-04FDDD0C7759}"/>
              </a:ext>
            </a:extLst>
          </p:cNvPr>
          <p:cNvSpPr>
            <a:spLocks noGrp="1"/>
          </p:cNvSpPr>
          <p:nvPr/>
        </p:nvSpPr>
        <p:spPr>
          <a:xfrm>
            <a:off x="9229725" y="2514600"/>
            <a:ext cx="8763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0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0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date + lieu + places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9CBCD34-6F8E-4462-8069-AF178E7E29B2}"/>
              </a:ext>
            </a:extLst>
          </p:cNvPr>
          <p:cNvSpPr>
            <a:spLocks noGrp="1"/>
          </p:cNvSpPr>
          <p:nvPr/>
        </p:nvSpPr>
        <p:spPr>
          <a:xfrm>
            <a:off x="8848725" y="2857500"/>
            <a:ext cx="15049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Ellipse 41">
            <a:extLst>
              <a:ext uri="{FF2B5EF4-FFF2-40B4-BE49-F238E27FC236}">
                <a16:creationId xmlns:a16="http://schemas.microsoft.com/office/drawing/2014/main" id="{85CF8FE1-8F99-4963-9780-F473D6DD4A74}"/>
              </a:ext>
            </a:extLst>
          </p:cNvPr>
          <p:cNvSpPr>
            <a:spLocks noGrp="1"/>
          </p:cNvSpPr>
          <p:nvPr/>
        </p:nvSpPr>
        <p:spPr>
          <a:xfrm>
            <a:off x="8963025" y="2981325"/>
            <a:ext cx="171450" cy="171450"/>
          </a:xfrm>
          <a:prstGeom prst="ellipse">
            <a:avLst/>
          </a:prstGeom>
          <a:solidFill>
            <a:srgbClr val="EC48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F1E0344-3DFE-4B01-9289-C745F723DA97}"/>
              </a:ext>
            </a:extLst>
          </p:cNvPr>
          <p:cNvSpPr>
            <a:spLocks noGrp="1"/>
          </p:cNvSpPr>
          <p:nvPr/>
        </p:nvSpPr>
        <p:spPr>
          <a:xfrm>
            <a:off x="9229725" y="2962275"/>
            <a:ext cx="876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Sport day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438A649-807D-4F04-9CB4-936E69DD5612}"/>
              </a:ext>
            </a:extLst>
          </p:cNvPr>
          <p:cNvSpPr>
            <a:spLocks noGrp="1"/>
          </p:cNvSpPr>
          <p:nvPr/>
        </p:nvSpPr>
        <p:spPr>
          <a:xfrm>
            <a:off x="9229725" y="3105150"/>
            <a:ext cx="8763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0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0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date + lieu + places</a:t>
            </a:r>
          </a:p>
        </p:txBody>
      </p:sp>
      <p:sp>
        <p:nvSpPr>
          <p:cNvPr id="45" name="Ellipse 44">
            <a:extLst>
              <a:ext uri="{FF2B5EF4-FFF2-40B4-BE49-F238E27FC236}">
                <a16:creationId xmlns:a16="http://schemas.microsoft.com/office/drawing/2014/main" id="{0B95B95E-2CD2-422C-8C33-7D4606C745B3}"/>
              </a:ext>
            </a:extLst>
          </p:cNvPr>
          <p:cNvSpPr>
            <a:spLocks noGrp="1"/>
          </p:cNvSpPr>
          <p:nvPr/>
        </p:nvSpPr>
        <p:spPr>
          <a:xfrm>
            <a:off x="9429750" y="4629150"/>
            <a:ext cx="342900" cy="342900"/>
          </a:xfrm>
          <a:prstGeom prst="ellipse">
            <a:avLst/>
          </a:prstGeom>
          <a:solidFill>
            <a:srgbClr val="E6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E02E1F6-D410-459C-AF3F-6088BB150B0B}"/>
              </a:ext>
            </a:extLst>
          </p:cNvPr>
          <p:cNvSpPr>
            <a:spLocks noGrp="1"/>
          </p:cNvSpPr>
          <p:nvPr/>
        </p:nvSpPr>
        <p:spPr>
          <a:xfrm>
            <a:off x="7981950" y="5181600"/>
            <a:ext cx="18097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6C993E9-093E-4D91-B5E5-68257BCA2515}"/>
              </a:ext>
            </a:extLst>
          </p:cNvPr>
          <p:cNvSpPr>
            <a:spLocks noGrp="1"/>
          </p:cNvSpPr>
          <p:nvPr/>
        </p:nvSpPr>
        <p:spPr>
          <a:xfrm>
            <a:off x="8096250" y="5238750"/>
            <a:ext cx="1581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638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Reservation confirmation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5A4AB45-725D-4157-8F3A-56D7880A6546}"/>
              </a:ext>
            </a:extLst>
          </p:cNvPr>
          <p:cNvSpPr>
            <a:spLocks noGrp="1"/>
          </p:cNvSpPr>
          <p:nvPr/>
        </p:nvSpPr>
        <p:spPr>
          <a:xfrm>
            <a:off x="9925050" y="5181600"/>
            <a:ext cx="16192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EC48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452F7BF-3032-4E4D-BEB7-E77E599EAFC9}"/>
              </a:ext>
            </a:extLst>
          </p:cNvPr>
          <p:cNvSpPr>
            <a:spLocks noGrp="1"/>
          </p:cNvSpPr>
          <p:nvPr/>
        </p:nvSpPr>
        <p:spPr>
          <a:xfrm>
            <a:off x="10039350" y="5238750"/>
            <a:ext cx="1390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638" b="1">
                <a:solidFill>
                  <a:srgbClr val="EC4899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EC4899"/>
                </a:solidFill>
                <a:latin typeface="Aptos"/>
                <a:ea typeface="Aptos"/>
                <a:cs typeface="Aptos"/>
              </a:rPr>
              <a:t>Avis &amp; commentaires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6434B8E-DE53-4B85-BB36-CD50C7F40186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9525"/>
          </a:xfrm>
          <a:prstGeom prst="rect">
            <a:avLst/>
          </a:prstGeom>
          <a:solidFill>
            <a:srgbClr val="E6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0C050C2-C783-4317-B698-87BB047EFF8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7429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Sources: event_list_page.dart, event_detail_page.dart, payment_dialog.dart, review_service.dart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3612416-A324-46FC-90A9-E85B4A91CA9F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58498153"/>
      </p:ext>
    </p:extLst>
  </p:cSld>
  <p:clrMapOvr>
    <a:masterClrMapping/>
  </p:clrMapOvr>
  <p:transition spd="med">
    <p:spli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3928D5F7-D0BD-4D65-B98A-0F62356C10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3A119F51-3D0D-40E8-87E2-4D319E279E96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5CF7D1B-445B-44C0-AFBE-B48BB58A523F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9D4E5"/>
                </a:solidFill>
                <a:latin typeface="Aptos"/>
                <a:ea typeface="Aptos"/>
                <a:cs typeface="Aptos"/>
              </a:rPr>
              <a:t>COCKPIT ORGANISATEUR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C0CFB9-268F-4C5C-A081-30C0DD1EC437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810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L'organisateur voit la demande, la capacite et le feedback au meme endroit.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B2DE01-0207-433A-8B05-5DD355C8DD15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2190750" cy="1485900"/>
          </a:xfrm>
          <a:prstGeom prst="rect">
            <a:avLst/>
          </a:prstGeom>
          <a:solidFill>
            <a:srgbClr val="182334"/>
          </a:solidFill>
          <a:ln w="9525">
            <a:solidFill>
              <a:srgbClr val="2D3B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85EA75-76CE-4DB6-AB14-3016A6738EE5}"/>
              </a:ext>
            </a:extLst>
          </p:cNvPr>
          <p:cNvSpPr>
            <a:spLocks noGrp="1"/>
          </p:cNvSpPr>
          <p:nvPr/>
        </p:nvSpPr>
        <p:spPr>
          <a:xfrm>
            <a:off x="800100" y="247650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06B6D4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BDAE1F-59CC-46C3-A582-B0BB36A6D482}"/>
              </a:ext>
            </a:extLst>
          </p:cNvPr>
          <p:cNvSpPr>
            <a:spLocks noGrp="1"/>
          </p:cNvSpPr>
          <p:nvPr/>
        </p:nvSpPr>
        <p:spPr>
          <a:xfrm>
            <a:off x="800100" y="28575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Creer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70AB04-716B-4482-9B5B-5432D60E88E7}"/>
              </a:ext>
            </a:extLst>
          </p:cNvPr>
          <p:cNvSpPr>
            <a:spLocks noGrp="1"/>
          </p:cNvSpPr>
          <p:nvPr/>
        </p:nvSpPr>
        <p:spPr>
          <a:xfrm>
            <a:off x="800100" y="3181350"/>
            <a:ext cx="1771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titre, description, categorie, dates, lieu, capacite, prix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B816B5-A1F0-4970-B082-E270A5889124}"/>
              </a:ext>
            </a:extLst>
          </p:cNvPr>
          <p:cNvSpPr>
            <a:spLocks noGrp="1"/>
          </p:cNvSpPr>
          <p:nvPr/>
        </p:nvSpPr>
        <p:spPr>
          <a:xfrm>
            <a:off x="2857500" y="2914650"/>
            <a:ext cx="400050" cy="190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32A2AF-333A-4F45-92D3-33E03EA5E7AB}"/>
              </a:ext>
            </a:extLst>
          </p:cNvPr>
          <p:cNvSpPr>
            <a:spLocks noGrp="1"/>
          </p:cNvSpPr>
          <p:nvPr/>
        </p:nvSpPr>
        <p:spPr>
          <a:xfrm>
            <a:off x="3333750" y="2305050"/>
            <a:ext cx="2190750" cy="1485900"/>
          </a:xfrm>
          <a:prstGeom prst="rect">
            <a:avLst/>
          </a:prstGeom>
          <a:solidFill>
            <a:srgbClr val="182334"/>
          </a:solidFill>
          <a:ln w="9525">
            <a:solidFill>
              <a:srgbClr val="2D3B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E6BB00-03BC-46A8-9F47-0986307624DF}"/>
              </a:ext>
            </a:extLst>
          </p:cNvPr>
          <p:cNvSpPr>
            <a:spLocks noGrp="1"/>
          </p:cNvSpPr>
          <p:nvPr/>
        </p:nvSpPr>
        <p:spPr>
          <a:xfrm>
            <a:off x="3524250" y="247650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0B981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D9C560A-D1E6-4333-A1BC-342B0B38AE55}"/>
              </a:ext>
            </a:extLst>
          </p:cNvPr>
          <p:cNvSpPr>
            <a:spLocks noGrp="1"/>
          </p:cNvSpPr>
          <p:nvPr/>
        </p:nvSpPr>
        <p:spPr>
          <a:xfrm>
            <a:off x="3524250" y="28575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Publier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B85EDE-A8AD-4FC7-92F0-8A702FFBB40B}"/>
              </a:ext>
            </a:extLst>
          </p:cNvPr>
          <p:cNvSpPr>
            <a:spLocks noGrp="1"/>
          </p:cNvSpPr>
          <p:nvPr/>
        </p:nvSpPr>
        <p:spPr>
          <a:xfrm>
            <a:off x="3524250" y="3181350"/>
            <a:ext cx="1771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brouillon ou publie selon le statut de l'evenement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A9E853-B6BA-4D90-BCAB-10818E8DDEA2}"/>
              </a:ext>
            </a:extLst>
          </p:cNvPr>
          <p:cNvSpPr>
            <a:spLocks noGrp="1"/>
          </p:cNvSpPr>
          <p:nvPr/>
        </p:nvSpPr>
        <p:spPr>
          <a:xfrm>
            <a:off x="5581650" y="2914650"/>
            <a:ext cx="400050" cy="190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B11DDC-F6A4-4A58-971E-5E9540133421}"/>
              </a:ext>
            </a:extLst>
          </p:cNvPr>
          <p:cNvSpPr>
            <a:spLocks noGrp="1"/>
          </p:cNvSpPr>
          <p:nvPr/>
        </p:nvSpPr>
        <p:spPr>
          <a:xfrm>
            <a:off x="6057900" y="2305050"/>
            <a:ext cx="2190750" cy="1485900"/>
          </a:xfrm>
          <a:prstGeom prst="rect">
            <a:avLst/>
          </a:prstGeom>
          <a:solidFill>
            <a:srgbClr val="182334"/>
          </a:solidFill>
          <a:ln w="9525">
            <a:solidFill>
              <a:srgbClr val="2D3B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95A884-FD40-4AEF-8064-4157FEDE604F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59E0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DF28C02-6235-4F24-AADF-6B2B16CEE71A}"/>
              </a:ext>
            </a:extLst>
          </p:cNvPr>
          <p:cNvSpPr>
            <a:spLocks noGrp="1"/>
          </p:cNvSpPr>
          <p:nvPr/>
        </p:nvSpPr>
        <p:spPr>
          <a:xfrm>
            <a:off x="6248400" y="28575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Suivre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E3C075-5D2A-4FB3-A7AE-CDB6799882FE}"/>
              </a:ext>
            </a:extLst>
          </p:cNvPr>
          <p:cNvSpPr>
            <a:spLocks noGrp="1"/>
          </p:cNvSpPr>
          <p:nvPr/>
        </p:nvSpPr>
        <p:spPr>
          <a:xfrm>
            <a:off x="6248400" y="3181350"/>
            <a:ext cx="1771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reservations par evenement + notifications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7CBCCA9-E43C-4481-BF0A-1603C262A981}"/>
              </a:ext>
            </a:extLst>
          </p:cNvPr>
          <p:cNvSpPr>
            <a:spLocks noGrp="1"/>
          </p:cNvSpPr>
          <p:nvPr/>
        </p:nvSpPr>
        <p:spPr>
          <a:xfrm>
            <a:off x="8305800" y="2914650"/>
            <a:ext cx="400050" cy="190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1BEF5C-F8E2-4228-9902-53882F22C4E4}"/>
              </a:ext>
            </a:extLst>
          </p:cNvPr>
          <p:cNvSpPr>
            <a:spLocks noGrp="1"/>
          </p:cNvSpPr>
          <p:nvPr/>
        </p:nvSpPr>
        <p:spPr>
          <a:xfrm>
            <a:off x="8782050" y="2305050"/>
            <a:ext cx="2190750" cy="1485900"/>
          </a:xfrm>
          <a:prstGeom prst="rect">
            <a:avLst/>
          </a:prstGeom>
          <a:solidFill>
            <a:srgbClr val="182334"/>
          </a:solidFill>
          <a:ln w="9525">
            <a:solidFill>
              <a:srgbClr val="2D3B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0845D7-9330-420E-AB59-4D68F82AA73A}"/>
              </a:ext>
            </a:extLst>
          </p:cNvPr>
          <p:cNvSpPr>
            <a:spLocks noGrp="1"/>
          </p:cNvSpPr>
          <p:nvPr/>
        </p:nvSpPr>
        <p:spPr>
          <a:xfrm>
            <a:off x="8972550" y="2476500"/>
            <a:ext cx="438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EC4899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EC4899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55DFF8-4FE4-4C46-973F-B1C486C2533C}"/>
              </a:ext>
            </a:extLst>
          </p:cNvPr>
          <p:cNvSpPr>
            <a:spLocks noGrp="1"/>
          </p:cNvSpPr>
          <p:nvPr/>
        </p:nvSpPr>
        <p:spPr>
          <a:xfrm>
            <a:off x="8972550" y="285750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Mesurer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2E7478-DF56-440A-8E99-B2F3B639DB1C}"/>
              </a:ext>
            </a:extLst>
          </p:cNvPr>
          <p:cNvSpPr>
            <a:spLocks noGrp="1"/>
          </p:cNvSpPr>
          <p:nvPr/>
        </p:nvSpPr>
        <p:spPr>
          <a:xfrm>
            <a:off x="8972550" y="3181350"/>
            <a:ext cx="17716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20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720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total inscrits, feedback, a venir, passes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A9BF72-9FFD-440C-A277-4955872D6667}"/>
              </a:ext>
            </a:extLst>
          </p:cNvPr>
          <p:cNvSpPr>
            <a:spLocks noGrp="1"/>
          </p:cNvSpPr>
          <p:nvPr/>
        </p:nvSpPr>
        <p:spPr>
          <a:xfrm>
            <a:off x="990600" y="4305300"/>
            <a:ext cx="6667500" cy="1352550"/>
          </a:xfrm>
          <a:prstGeom prst="rect">
            <a:avLst/>
          </a:prstGeom>
          <a:solidFill>
            <a:srgbClr val="0B1220"/>
          </a:solidFill>
          <a:ln w="9525">
            <a:solidFill>
              <a:srgbClr val="2D3B5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9B4121-8DA4-4C9A-A75A-8EA1DC77B8A9}"/>
              </a:ext>
            </a:extLst>
          </p:cNvPr>
          <p:cNvSpPr>
            <a:spLocks noGrp="1"/>
          </p:cNvSpPr>
          <p:nvPr/>
        </p:nvSpPr>
        <p:spPr>
          <a:xfrm>
            <a:off x="1257300" y="4514850"/>
            <a:ext cx="3143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Statistiques natives du cockpit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FA4C27B-B1F1-448B-B880-90BF64BA4C7F}"/>
              </a:ext>
            </a:extLst>
          </p:cNvPr>
          <p:cNvSpPr>
            <a:spLocks noGrp="1"/>
          </p:cNvSpPr>
          <p:nvPr/>
        </p:nvSpPr>
        <p:spPr>
          <a:xfrm>
            <a:off x="1257300" y="4857750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C9D4E5"/>
                </a:solidFill>
                <a:latin typeface="Aptos"/>
                <a:ea typeface="Aptos"/>
                <a:cs typeface="Aptos"/>
              </a:rPr>
              <a:t>Total inscrits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E1D99C3-86F3-4385-A0BB-E85EBD2F46DB}"/>
              </a:ext>
            </a:extLst>
          </p:cNvPr>
          <p:cNvSpPr>
            <a:spLocks noGrp="1"/>
          </p:cNvSpPr>
          <p:nvPr/>
        </p:nvSpPr>
        <p:spPr>
          <a:xfrm>
            <a:off x="2705100" y="4895850"/>
            <a:ext cx="4095750" cy="76200"/>
          </a:xfrm>
          <a:prstGeom prst="rect">
            <a:avLst/>
          </a:prstGeom>
          <a:solidFill>
            <a:srgbClr val="2D3B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C27AB32-09A9-4FF3-8FF1-B93D7AC7BD1E}"/>
              </a:ext>
            </a:extLst>
          </p:cNvPr>
          <p:cNvSpPr>
            <a:spLocks noGrp="1"/>
          </p:cNvSpPr>
          <p:nvPr/>
        </p:nvSpPr>
        <p:spPr>
          <a:xfrm>
            <a:off x="2705100" y="4895850"/>
            <a:ext cx="3194685" cy="76200"/>
          </a:xfrm>
          <a:prstGeom prst="rect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E6724C-7282-4257-A2D7-715C4455897A}"/>
              </a:ext>
            </a:extLst>
          </p:cNvPr>
          <p:cNvSpPr>
            <a:spLocks noGrp="1"/>
          </p:cNvSpPr>
          <p:nvPr/>
        </p:nvSpPr>
        <p:spPr>
          <a:xfrm>
            <a:off x="1257300" y="5095875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C9D4E5"/>
                </a:solidFill>
                <a:latin typeface="Aptos"/>
                <a:ea typeface="Aptos"/>
                <a:cs typeface="Aptos"/>
              </a:rPr>
              <a:t>Feedback moyen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AA9AC4-F45E-4A0F-B943-C2C7C26096F1}"/>
              </a:ext>
            </a:extLst>
          </p:cNvPr>
          <p:cNvSpPr>
            <a:spLocks noGrp="1"/>
          </p:cNvSpPr>
          <p:nvPr/>
        </p:nvSpPr>
        <p:spPr>
          <a:xfrm>
            <a:off x="2705100" y="5133975"/>
            <a:ext cx="4095750" cy="76200"/>
          </a:xfrm>
          <a:prstGeom prst="rect">
            <a:avLst/>
          </a:prstGeom>
          <a:solidFill>
            <a:srgbClr val="2D3B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33CDC10-317E-4B12-B8A8-7926F87E978F}"/>
              </a:ext>
            </a:extLst>
          </p:cNvPr>
          <p:cNvSpPr>
            <a:spLocks noGrp="1"/>
          </p:cNvSpPr>
          <p:nvPr/>
        </p:nvSpPr>
        <p:spPr>
          <a:xfrm>
            <a:off x="2705100" y="5133975"/>
            <a:ext cx="3440430" cy="762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766A592-4199-45E9-B61F-A013B4AAFE9B}"/>
              </a:ext>
            </a:extLst>
          </p:cNvPr>
          <p:cNvSpPr>
            <a:spLocks noGrp="1"/>
          </p:cNvSpPr>
          <p:nvPr/>
        </p:nvSpPr>
        <p:spPr>
          <a:xfrm>
            <a:off x="1257300" y="5334000"/>
            <a:ext cx="1333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1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690" b="1">
                <a:solidFill>
                  <a:srgbClr val="C9D4E5"/>
                </a:solidFill>
                <a:latin typeface="Aptos"/>
                <a:ea typeface="Aptos"/>
                <a:cs typeface="Aptos"/>
              </a:rPr>
              <a:t>Evenements a venir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2CACBC8-2F85-4C01-A62F-589DEB86698F}"/>
              </a:ext>
            </a:extLst>
          </p:cNvPr>
          <p:cNvSpPr>
            <a:spLocks noGrp="1"/>
          </p:cNvSpPr>
          <p:nvPr/>
        </p:nvSpPr>
        <p:spPr>
          <a:xfrm>
            <a:off x="2705100" y="5372100"/>
            <a:ext cx="4095750" cy="76200"/>
          </a:xfrm>
          <a:prstGeom prst="rect">
            <a:avLst/>
          </a:prstGeom>
          <a:solidFill>
            <a:srgbClr val="2D3B5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077CC8-36B3-4138-9F46-6C3563763286}"/>
              </a:ext>
            </a:extLst>
          </p:cNvPr>
          <p:cNvSpPr>
            <a:spLocks noGrp="1"/>
          </p:cNvSpPr>
          <p:nvPr/>
        </p:nvSpPr>
        <p:spPr>
          <a:xfrm>
            <a:off x="2705100" y="5372100"/>
            <a:ext cx="2539365" cy="7620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521153C-BC84-471F-9B95-FC7E569D0EDA}"/>
              </a:ext>
            </a:extLst>
          </p:cNvPr>
          <p:cNvSpPr>
            <a:spLocks noGrp="1"/>
          </p:cNvSpPr>
          <p:nvPr/>
        </p:nvSpPr>
        <p:spPr>
          <a:xfrm>
            <a:off x="8039100" y="4648200"/>
            <a:ext cx="238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C9D4E5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C9D4E5"/>
                </a:solidFill>
                <a:latin typeface="Aptos Display"/>
                <a:ea typeface="Aptos Display"/>
                <a:cs typeface="Aptos Display"/>
              </a:rPr>
              <a:t>Notifications et stats restent rattachees aux evenements de l'organisateur.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C64711-7BE8-4C96-95E3-1357C8120604}"/>
              </a:ext>
            </a:extLst>
          </p:cNvPr>
          <p:cNvSpPr>
            <a:spLocks noGrp="1"/>
          </p:cNvSpPr>
          <p:nvPr/>
        </p:nvSpPr>
        <p:spPr>
          <a:xfrm>
            <a:off x="601980" y="6402265"/>
            <a:ext cx="11087100" cy="9525"/>
          </a:xfrm>
          <a:prstGeom prst="rect">
            <a:avLst/>
          </a:prstGeom>
          <a:solidFill>
            <a:srgbClr val="3841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7CB5DC8-C317-4D60-942C-FB5045AF15BE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7429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Sources: organizer_dashboard.dart, create_event_page.dart, organizer_stats_page.dart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9DAAA6C-E4EA-4807-A931-12E421F8598E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AAB6C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AB6C8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5379968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2DDB737D-A974-491A-B047-F4372B8151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11409F62-01FE-4620-9586-5AEF4C882CDE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ellipse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66BB664D-7650-4789-9142-51160CB72E9A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GOUVERNANCE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D557AD-C33C-49D4-8061-2BA9073E06E9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Les droits Firestore transforment les roles en garde-fous concrets.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C2E6E9-36C1-4097-A20C-D0722C5BAD15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7620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L'administration n'est pas seulement une interface: elle s'appuie sur des regles qui limitent les creations, lectures et modifications.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02D480-A259-414B-92E1-B598E034D20C}"/>
              </a:ext>
            </a:extLst>
          </p:cNvPr>
          <p:cNvSpPr>
            <a:spLocks noGrp="1"/>
          </p:cNvSpPr>
          <p:nvPr/>
        </p:nvSpPr>
        <p:spPr>
          <a:xfrm>
            <a:off x="704850" y="2552700"/>
            <a:ext cx="7239000" cy="5143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99ED5D-0C83-4BF8-BD0B-7D2361FA749F}"/>
              </a:ext>
            </a:extLst>
          </p:cNvPr>
          <p:cNvSpPr>
            <a:spLocks noGrp="1"/>
          </p:cNvSpPr>
          <p:nvPr/>
        </p:nvSpPr>
        <p:spPr>
          <a:xfrm>
            <a:off x="952500" y="272415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Collection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7A8AA4-25D4-4634-B1B3-92C5E3759AB8}"/>
              </a:ext>
            </a:extLst>
          </p:cNvPr>
          <p:cNvSpPr>
            <a:spLocks noGrp="1"/>
          </p:cNvSpPr>
          <p:nvPr/>
        </p:nvSpPr>
        <p:spPr>
          <a:xfrm>
            <a:off x="2952750" y="272415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46DB26-C552-448B-93D9-C2398A5A5993}"/>
              </a:ext>
            </a:extLst>
          </p:cNvPr>
          <p:cNvSpPr>
            <a:spLocks noGrp="1"/>
          </p:cNvSpPr>
          <p:nvPr/>
        </p:nvSpPr>
        <p:spPr>
          <a:xfrm>
            <a:off x="4743450" y="27241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Ecriture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3590CD-190B-4EAA-B51E-D50E3F544D85}"/>
              </a:ext>
            </a:extLst>
          </p:cNvPr>
          <p:cNvSpPr>
            <a:spLocks noGrp="1"/>
          </p:cNvSpPr>
          <p:nvPr/>
        </p:nvSpPr>
        <p:spPr>
          <a:xfrm>
            <a:off x="704850" y="3067050"/>
            <a:ext cx="7239000" cy="55245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123558E9-76CE-4D83-A454-EAC5CF5A46BF}"/>
              </a:ext>
            </a:extLst>
          </p:cNvPr>
          <p:cNvSpPr>
            <a:spLocks noGrp="1"/>
          </p:cNvSpPr>
          <p:nvPr/>
        </p:nvSpPr>
        <p:spPr>
          <a:xfrm>
            <a:off x="971550" y="3257550"/>
            <a:ext cx="152400" cy="152400"/>
          </a:xfrm>
          <a:prstGeom prst="ellipse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F6D6E1-90EC-4322-ABDF-EE4FEF9FA560}"/>
              </a:ext>
            </a:extLst>
          </p:cNvPr>
          <p:cNvSpPr>
            <a:spLocks noGrp="1"/>
          </p:cNvSpPr>
          <p:nvPr/>
        </p:nvSpPr>
        <p:spPr>
          <a:xfrm>
            <a:off x="1238250" y="323850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Users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FAD484-DDCE-4C00-BBE8-C732566EE2FF}"/>
              </a:ext>
            </a:extLst>
          </p:cNvPr>
          <p:cNvSpPr>
            <a:spLocks noGrp="1"/>
          </p:cNvSpPr>
          <p:nvPr/>
        </p:nvSpPr>
        <p:spPr>
          <a:xfrm>
            <a:off x="2952750" y="32385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read auth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8DAC4A-3FC7-4F1E-8A14-CA7381A4998D}"/>
              </a:ext>
            </a:extLst>
          </p:cNvPr>
          <p:cNvSpPr>
            <a:spLocks noGrp="1"/>
          </p:cNvSpPr>
          <p:nvPr/>
        </p:nvSpPr>
        <p:spPr>
          <a:xfrm>
            <a:off x="4743450" y="3219450"/>
            <a:ext cx="2762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write admin ou profil propre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29DEA4-EEF9-4A75-A672-863EC8BF65BE}"/>
              </a:ext>
            </a:extLst>
          </p:cNvPr>
          <p:cNvSpPr>
            <a:spLocks noGrp="1"/>
          </p:cNvSpPr>
          <p:nvPr/>
        </p:nvSpPr>
        <p:spPr>
          <a:xfrm>
            <a:off x="704850" y="3619500"/>
            <a:ext cx="723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7EC8CA6-FE34-4830-9676-43B3DED18C4B}"/>
              </a:ext>
            </a:extLst>
          </p:cNvPr>
          <p:cNvSpPr>
            <a:spLocks noGrp="1"/>
          </p:cNvSpPr>
          <p:nvPr/>
        </p:nvSpPr>
        <p:spPr>
          <a:xfrm>
            <a:off x="971550" y="3810000"/>
            <a:ext cx="152400" cy="15240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021B1A-C803-4778-B8F3-6C8CD81BC2D8}"/>
              </a:ext>
            </a:extLst>
          </p:cNvPr>
          <p:cNvSpPr>
            <a:spLocks noGrp="1"/>
          </p:cNvSpPr>
          <p:nvPr/>
        </p:nvSpPr>
        <p:spPr>
          <a:xfrm>
            <a:off x="1238250" y="37909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Events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A2745B6-E7B5-4EA9-B453-6E7E02790477}"/>
              </a:ext>
            </a:extLst>
          </p:cNvPr>
          <p:cNvSpPr>
            <a:spLocks noGrp="1"/>
          </p:cNvSpPr>
          <p:nvPr/>
        </p:nvSpPr>
        <p:spPr>
          <a:xfrm>
            <a:off x="2952750" y="379095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read auth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2375F6-FDCC-4F55-9537-8042CEF11E55}"/>
              </a:ext>
            </a:extLst>
          </p:cNvPr>
          <p:cNvSpPr>
            <a:spLocks noGrp="1"/>
          </p:cNvSpPr>
          <p:nvPr/>
        </p:nvSpPr>
        <p:spPr>
          <a:xfrm>
            <a:off x="4743450" y="3771900"/>
            <a:ext cx="2762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create admin/organisateur; delete owner/admin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736FAB3-37C8-412F-B49F-8444C8FE0476}"/>
              </a:ext>
            </a:extLst>
          </p:cNvPr>
          <p:cNvSpPr>
            <a:spLocks noGrp="1"/>
          </p:cNvSpPr>
          <p:nvPr/>
        </p:nvSpPr>
        <p:spPr>
          <a:xfrm>
            <a:off x="704850" y="4171950"/>
            <a:ext cx="7239000" cy="552450"/>
          </a:xfrm>
          <a:prstGeom prst="rect">
            <a:avLst/>
          </a:prstGeom>
          <a:solidFill>
            <a:srgbClr val="F8FA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009D54B-CA5E-4330-A2F8-0B5FA9C4A418}"/>
              </a:ext>
            </a:extLst>
          </p:cNvPr>
          <p:cNvSpPr>
            <a:spLocks noGrp="1"/>
          </p:cNvSpPr>
          <p:nvPr/>
        </p:nvSpPr>
        <p:spPr>
          <a:xfrm>
            <a:off x="971550" y="4362450"/>
            <a:ext cx="152400" cy="15240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026317-BFAB-47A1-BABA-55D303B6AC60}"/>
              </a:ext>
            </a:extLst>
          </p:cNvPr>
          <p:cNvSpPr>
            <a:spLocks noGrp="1"/>
          </p:cNvSpPr>
          <p:nvPr/>
        </p:nvSpPr>
        <p:spPr>
          <a:xfrm>
            <a:off x="1238250" y="434340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Reservations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162DBDE-DEA0-4F3B-AB5C-1DAEEDCFDA18}"/>
              </a:ext>
            </a:extLst>
          </p:cNvPr>
          <p:cNvSpPr>
            <a:spLocks noGrp="1"/>
          </p:cNvSpPr>
          <p:nvPr/>
        </p:nvSpPr>
        <p:spPr>
          <a:xfrm>
            <a:off x="2952750" y="43434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read selon role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578229D-9FD7-4007-804B-E2C78742DB13}"/>
              </a:ext>
            </a:extLst>
          </p:cNvPr>
          <p:cNvSpPr>
            <a:spLocks noGrp="1"/>
          </p:cNvSpPr>
          <p:nvPr/>
        </p:nvSpPr>
        <p:spPr>
          <a:xfrm>
            <a:off x="4743450" y="4324350"/>
            <a:ext cx="2762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create soi-meme; update user/org/admin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DE91EF-4F41-400A-B14D-61D802C87039}"/>
              </a:ext>
            </a:extLst>
          </p:cNvPr>
          <p:cNvSpPr>
            <a:spLocks noGrp="1"/>
          </p:cNvSpPr>
          <p:nvPr/>
        </p:nvSpPr>
        <p:spPr>
          <a:xfrm>
            <a:off x="704850" y="4724400"/>
            <a:ext cx="7239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600FA538-AEEC-4420-BA49-0A93800297C8}"/>
              </a:ext>
            </a:extLst>
          </p:cNvPr>
          <p:cNvSpPr>
            <a:spLocks noGrp="1"/>
          </p:cNvSpPr>
          <p:nvPr/>
        </p:nvSpPr>
        <p:spPr>
          <a:xfrm>
            <a:off x="971550" y="4914900"/>
            <a:ext cx="152400" cy="152400"/>
          </a:xfrm>
          <a:prstGeom prst="ellipse">
            <a:avLst/>
          </a:prstGeom>
          <a:solidFill>
            <a:srgbClr val="EC48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287956-836B-4666-9CFD-9513AA949D67}"/>
              </a:ext>
            </a:extLst>
          </p:cNvPr>
          <p:cNvSpPr>
            <a:spLocks noGrp="1"/>
          </p:cNvSpPr>
          <p:nvPr/>
        </p:nvSpPr>
        <p:spPr>
          <a:xfrm>
            <a:off x="1238250" y="4895850"/>
            <a:ext cx="1333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Reviews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1BA6D2-AFC8-4EAF-8E45-00AFE32CE317}"/>
              </a:ext>
            </a:extLst>
          </p:cNvPr>
          <p:cNvSpPr>
            <a:spLocks noGrp="1"/>
          </p:cNvSpPr>
          <p:nvPr/>
        </p:nvSpPr>
        <p:spPr>
          <a:xfrm>
            <a:off x="2952750" y="489585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read auth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978BE72-A0AB-4F13-841C-5063CA747253}"/>
              </a:ext>
            </a:extLst>
          </p:cNvPr>
          <p:cNvSpPr>
            <a:spLocks noGrp="1"/>
          </p:cNvSpPr>
          <p:nvPr/>
        </p:nvSpPr>
        <p:spPr>
          <a:xfrm>
            <a:off x="4743450" y="4876800"/>
            <a:ext cx="2762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create auth; update/delete auteur ou admin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791C4A-D54D-4333-AD07-066A7E4CADDF}"/>
              </a:ext>
            </a:extLst>
          </p:cNvPr>
          <p:cNvSpPr>
            <a:spLocks noGrp="1"/>
          </p:cNvSpPr>
          <p:nvPr/>
        </p:nvSpPr>
        <p:spPr>
          <a:xfrm>
            <a:off x="8686800" y="2266950"/>
            <a:ext cx="2000250" cy="3143250"/>
          </a:xfrm>
          <a:prstGeom prst="rect">
            <a:avLst/>
          </a:prstGeom>
          <a:solidFill>
            <a:srgbClr val="111827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32F1FB5-EBAD-4777-B757-4064724FABEB}"/>
              </a:ext>
            </a:extLst>
          </p:cNvPr>
          <p:cNvSpPr>
            <a:spLocks noGrp="1"/>
          </p:cNvSpPr>
          <p:nvPr/>
        </p:nvSpPr>
        <p:spPr>
          <a:xfrm>
            <a:off x="8782050" y="2362200"/>
            <a:ext cx="1809750" cy="2952750"/>
          </a:xfrm>
          <a:prstGeom prst="rect">
            <a:avLst/>
          </a:prstGeom>
          <a:solidFill>
            <a:srgbClr val="F8F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3B1058-A4AF-4148-A322-B056F47157D4}"/>
              </a:ext>
            </a:extLst>
          </p:cNvPr>
          <p:cNvSpPr>
            <a:spLocks noGrp="1"/>
          </p:cNvSpPr>
          <p:nvPr/>
        </p:nvSpPr>
        <p:spPr>
          <a:xfrm>
            <a:off x="8924925" y="2552700"/>
            <a:ext cx="1524000" cy="419100"/>
          </a:xfrm>
          <a:prstGeom prst="rect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E6B4B97-58E8-4422-9808-D45E606AAA2C}"/>
              </a:ext>
            </a:extLst>
          </p:cNvPr>
          <p:cNvSpPr>
            <a:spLocks noGrp="1"/>
          </p:cNvSpPr>
          <p:nvPr/>
        </p:nvSpPr>
        <p:spPr>
          <a:xfrm>
            <a:off x="9048750" y="2686050"/>
            <a:ext cx="12763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Panel Admin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AC561AF-BE50-4BA0-9FC5-78B2DF38F548}"/>
              </a:ext>
            </a:extLst>
          </p:cNvPr>
          <p:cNvSpPr>
            <a:spLocks noGrp="1"/>
          </p:cNvSpPr>
          <p:nvPr/>
        </p:nvSpPr>
        <p:spPr>
          <a:xfrm>
            <a:off x="8934450" y="3181350"/>
            <a:ext cx="15049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01996CF8-AEC9-4ABF-A124-5D1CAC04F566}"/>
              </a:ext>
            </a:extLst>
          </p:cNvPr>
          <p:cNvSpPr>
            <a:spLocks noGrp="1"/>
          </p:cNvSpPr>
          <p:nvPr/>
        </p:nvSpPr>
        <p:spPr>
          <a:xfrm>
            <a:off x="9048750" y="3305175"/>
            <a:ext cx="171450" cy="171450"/>
          </a:xfrm>
          <a:prstGeom prst="ellipse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E616898-EAC8-4530-AC2A-CEFA0CCE2D8A}"/>
              </a:ext>
            </a:extLst>
          </p:cNvPr>
          <p:cNvSpPr>
            <a:spLocks noGrp="1"/>
          </p:cNvSpPr>
          <p:nvPr/>
        </p:nvSpPr>
        <p:spPr>
          <a:xfrm>
            <a:off x="9315450" y="3286125"/>
            <a:ext cx="876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Tech meetup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F1523E3-F8D0-48B1-8ED5-5A4CD8DBBF0D}"/>
              </a:ext>
            </a:extLst>
          </p:cNvPr>
          <p:cNvSpPr>
            <a:spLocks noGrp="1"/>
          </p:cNvSpPr>
          <p:nvPr/>
        </p:nvSpPr>
        <p:spPr>
          <a:xfrm>
            <a:off x="9315450" y="3429000"/>
            <a:ext cx="8763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0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0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role + controle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FC2C618-9371-4A7C-8FD5-4F52DDAD60E9}"/>
              </a:ext>
            </a:extLst>
          </p:cNvPr>
          <p:cNvSpPr>
            <a:spLocks noGrp="1"/>
          </p:cNvSpPr>
          <p:nvPr/>
        </p:nvSpPr>
        <p:spPr>
          <a:xfrm>
            <a:off x="8934450" y="3771900"/>
            <a:ext cx="15049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F9F26204-AFEC-4A46-BDA8-21E60905A01A}"/>
              </a:ext>
            </a:extLst>
          </p:cNvPr>
          <p:cNvSpPr>
            <a:spLocks noGrp="1"/>
          </p:cNvSpPr>
          <p:nvPr/>
        </p:nvSpPr>
        <p:spPr>
          <a:xfrm>
            <a:off x="9048750" y="3895725"/>
            <a:ext cx="171450" cy="171450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4211EB8-9BDF-4229-8920-5E97FC707C6F}"/>
              </a:ext>
            </a:extLst>
          </p:cNvPr>
          <p:cNvSpPr>
            <a:spLocks noGrp="1"/>
          </p:cNvSpPr>
          <p:nvPr/>
        </p:nvSpPr>
        <p:spPr>
          <a:xfrm>
            <a:off x="9315450" y="3876675"/>
            <a:ext cx="876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Concert live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68FBA4-5F18-4131-8283-D89BF189D700}"/>
              </a:ext>
            </a:extLst>
          </p:cNvPr>
          <p:cNvSpPr>
            <a:spLocks noGrp="1"/>
          </p:cNvSpPr>
          <p:nvPr/>
        </p:nvSpPr>
        <p:spPr>
          <a:xfrm>
            <a:off x="9315450" y="4019550"/>
            <a:ext cx="8763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0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0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role + controle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7F2FC78-873B-4F5F-9E84-BD6D61BE41CA}"/>
              </a:ext>
            </a:extLst>
          </p:cNvPr>
          <p:cNvSpPr>
            <a:spLocks noGrp="1"/>
          </p:cNvSpPr>
          <p:nvPr/>
        </p:nvSpPr>
        <p:spPr>
          <a:xfrm>
            <a:off x="8934450" y="4362450"/>
            <a:ext cx="15049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E20C831F-414B-4541-A1A6-1898F171DD70}"/>
              </a:ext>
            </a:extLst>
          </p:cNvPr>
          <p:cNvSpPr>
            <a:spLocks noGrp="1"/>
          </p:cNvSpPr>
          <p:nvPr/>
        </p:nvSpPr>
        <p:spPr>
          <a:xfrm>
            <a:off x="9048750" y="4486275"/>
            <a:ext cx="171450" cy="171450"/>
          </a:xfrm>
          <a:prstGeom prst="ellipse">
            <a:avLst/>
          </a:prstGeom>
          <a:solidFill>
            <a:srgbClr val="EC48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3FFBF42-D2DC-4D37-835F-B0AB4D3377AC}"/>
              </a:ext>
            </a:extLst>
          </p:cNvPr>
          <p:cNvSpPr>
            <a:spLocks noGrp="1"/>
          </p:cNvSpPr>
          <p:nvPr/>
        </p:nvSpPr>
        <p:spPr>
          <a:xfrm>
            <a:off x="9315450" y="4467225"/>
            <a:ext cx="876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Sport day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2215A62-18D0-4E32-85E2-63C9AC20C240}"/>
              </a:ext>
            </a:extLst>
          </p:cNvPr>
          <p:cNvSpPr>
            <a:spLocks noGrp="1"/>
          </p:cNvSpPr>
          <p:nvPr/>
        </p:nvSpPr>
        <p:spPr>
          <a:xfrm>
            <a:off x="9315450" y="4610100"/>
            <a:ext cx="8763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0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0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role + controle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8173744-BA42-4D7D-8DB2-C974E67BD2D9}"/>
              </a:ext>
            </a:extLst>
          </p:cNvPr>
          <p:cNvSpPr>
            <a:spLocks noGrp="1"/>
          </p:cNvSpPr>
          <p:nvPr/>
        </p:nvSpPr>
        <p:spPr>
          <a:xfrm>
            <a:off x="8934450" y="4953000"/>
            <a:ext cx="15049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9A4F7FF0-5B90-46D4-B84A-71E77F185825}"/>
              </a:ext>
            </a:extLst>
          </p:cNvPr>
          <p:cNvSpPr>
            <a:spLocks noGrp="1"/>
          </p:cNvSpPr>
          <p:nvPr/>
        </p:nvSpPr>
        <p:spPr>
          <a:xfrm>
            <a:off x="9048750" y="5076825"/>
            <a:ext cx="171450" cy="1714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59CE086-9C79-49B9-BE8A-3024CF3053F9}"/>
              </a:ext>
            </a:extLst>
          </p:cNvPr>
          <p:cNvSpPr>
            <a:spLocks noGrp="1"/>
          </p:cNvSpPr>
          <p:nvPr/>
        </p:nvSpPr>
        <p:spPr>
          <a:xfrm>
            <a:off x="9315450" y="5057775"/>
            <a:ext cx="87630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63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Utilisateur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29770D5-74E9-4B96-B89A-FA072A3934E7}"/>
              </a:ext>
            </a:extLst>
          </p:cNvPr>
          <p:cNvSpPr>
            <a:spLocks noGrp="1"/>
          </p:cNvSpPr>
          <p:nvPr/>
        </p:nvSpPr>
        <p:spPr>
          <a:xfrm>
            <a:off x="9315450" y="5200650"/>
            <a:ext cx="876300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0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0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role + controle</a:t>
            </a:r>
          </a:p>
        </p:txBody>
      </p:sp>
      <p:sp>
        <p:nvSpPr>
          <p:cNvPr id="50" name="Ellipse 49">
            <a:extLst>
              <a:ext uri="{FF2B5EF4-FFF2-40B4-BE49-F238E27FC236}">
                <a16:creationId xmlns:a16="http://schemas.microsoft.com/office/drawing/2014/main" id="{18320F6C-FDEC-4B52-AC6C-F0171DB12425}"/>
              </a:ext>
            </a:extLst>
          </p:cNvPr>
          <p:cNvSpPr>
            <a:spLocks noGrp="1"/>
          </p:cNvSpPr>
          <p:nvPr/>
        </p:nvSpPr>
        <p:spPr>
          <a:xfrm>
            <a:off x="9515475" y="5181600"/>
            <a:ext cx="342900" cy="342900"/>
          </a:xfrm>
          <a:prstGeom prst="ellipse">
            <a:avLst/>
          </a:prstGeom>
          <a:solidFill>
            <a:srgbClr val="E6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7939C36-8A9F-4548-BA7B-DCC166318A1C}"/>
              </a:ext>
            </a:extLst>
          </p:cNvPr>
          <p:cNvSpPr>
            <a:spLocks noGrp="1"/>
          </p:cNvSpPr>
          <p:nvPr/>
        </p:nvSpPr>
        <p:spPr>
          <a:xfrm>
            <a:off x="8877300" y="5619750"/>
            <a:ext cx="1676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Admin dashboard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2C88107-4C9E-499A-B588-E28C5BA19163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9525"/>
          </a:xfrm>
          <a:prstGeom prst="rect">
            <a:avLst/>
          </a:prstGeom>
          <a:solidFill>
            <a:srgbClr val="E6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7F5B09F-CB55-465D-91DE-015A03B5DEB5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7429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Sources: firestore.rules, admin_dashboard.dart, admin_service.dart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00D9A21-89E9-4763-9226-1A86EFB22AAC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66638000"/>
      </p:ext>
    </p:extLst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64FE20E0-6B67-4F15-8CB2-D01F5F7E63F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FDAA2D39-64BC-4DAE-A20B-B69F498B3377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ellipse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DC4B5046-E4C9-4996-8590-9E791FBEDC11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385814-7F0D-4E6C-9F32-C384BC358DDE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Le temps reel vient d'une chaine simple: vues, providers, services, Firestore.</a:t>
            </a:r>
          </a:p>
        </p:txBody>
      </p:sp>
      <p:pic>
        <p:nvPicPr>
          <p:cNvPr id="5" name="Graphique 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90600" y="2552700"/>
            <a:ext cx="323850" cy="3238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0D34040-4F8B-44E4-99D6-364C58D9BDD8}"/>
              </a:ext>
            </a:extLst>
          </p:cNvPr>
          <p:cNvSpPr>
            <a:spLocks noGrp="1"/>
          </p:cNvSpPr>
          <p:nvPr/>
        </p:nvSpPr>
        <p:spPr>
          <a:xfrm>
            <a:off x="800100" y="2343150"/>
            <a:ext cx="2266950" cy="1676400"/>
          </a:xfrm>
          <a:prstGeom prst="rect">
            <a:avLst/>
          </a:prstGeom>
          <a:solidFill>
            <a:srgbClr val="F8FAFF"/>
          </a:solidFill>
          <a:ln w="9525">
            <a:solidFill>
              <a:srgbClr val="E0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674668-3983-41A7-BA28-535DC126EE82}"/>
              </a:ext>
            </a:extLst>
          </p:cNvPr>
          <p:cNvSpPr>
            <a:spLocks noGrp="1"/>
          </p:cNvSpPr>
          <p:nvPr/>
        </p:nvSpPr>
        <p:spPr>
          <a:xfrm>
            <a:off x="1009650" y="30480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Flutter views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6A58CC-09D2-4A89-A853-CEC15121B3EC}"/>
              </a:ext>
            </a:extLst>
          </p:cNvPr>
          <p:cNvSpPr>
            <a:spLocks noGrp="1"/>
          </p:cNvSpPr>
          <p:nvPr/>
        </p:nvSpPr>
        <p:spPr>
          <a:xfrm>
            <a:off x="1009650" y="33718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EventList, Calendar, Map, Detail, Admin, Organizer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BC1CE68-DF9C-4A0B-947E-B3CD494460A7}"/>
              </a:ext>
            </a:extLst>
          </p:cNvPr>
          <p:cNvSpPr>
            <a:spLocks noGrp="1"/>
          </p:cNvSpPr>
          <p:nvPr/>
        </p:nvSpPr>
        <p:spPr>
          <a:xfrm>
            <a:off x="3105150" y="3162300"/>
            <a:ext cx="457200" cy="19050"/>
          </a:xfrm>
          <a:prstGeom prst="rect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993FCA2-2C52-4872-85F0-C81F67344D96}"/>
              </a:ext>
            </a:extLst>
          </p:cNvPr>
          <p:cNvSpPr>
            <a:spLocks noGrp="1"/>
          </p:cNvSpPr>
          <p:nvPr/>
        </p:nvSpPr>
        <p:spPr>
          <a:xfrm>
            <a:off x="3524250" y="3114675"/>
            <a:ext cx="114300" cy="114300"/>
          </a:xfrm>
          <a:prstGeom prst="ellipse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1" name="Graphique 1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3771900" y="2552700"/>
            <a:ext cx="323850" cy="32385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2C1E2DC-4A60-44A9-BF8F-80261337E06A}"/>
              </a:ext>
            </a:extLst>
          </p:cNvPr>
          <p:cNvSpPr>
            <a:spLocks noGrp="1"/>
          </p:cNvSpPr>
          <p:nvPr/>
        </p:nvSpPr>
        <p:spPr>
          <a:xfrm>
            <a:off x="3581400" y="2343150"/>
            <a:ext cx="2266950" cy="1676400"/>
          </a:xfrm>
          <a:prstGeom prst="rect">
            <a:avLst/>
          </a:prstGeom>
          <a:solidFill>
            <a:srgbClr val="F8FAFF"/>
          </a:solidFill>
          <a:ln w="9525">
            <a:solidFill>
              <a:srgbClr val="E0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810AD7-C142-485D-99ED-F8609365F33A}"/>
              </a:ext>
            </a:extLst>
          </p:cNvPr>
          <p:cNvSpPr>
            <a:spLocks noGrp="1"/>
          </p:cNvSpPr>
          <p:nvPr/>
        </p:nvSpPr>
        <p:spPr>
          <a:xfrm>
            <a:off x="3790950" y="30480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Providers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2F914F-A46C-4ABA-BCE3-D4B4F5463CA6}"/>
              </a:ext>
            </a:extLst>
          </p:cNvPr>
          <p:cNvSpPr>
            <a:spLocks noGrp="1"/>
          </p:cNvSpPr>
          <p:nvPr/>
        </p:nvSpPr>
        <p:spPr>
          <a:xfrm>
            <a:off x="3790950" y="33718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AuthProvider</a:t>
            </a:r>
            <a:r>
              <a:rPr sz="78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, </a:t>
            </a:r>
            <a:r>
              <a:rPr sz="78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EventProvider</a:t>
            </a:r>
            <a:r>
              <a:rPr sz="78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, </a:t>
            </a:r>
            <a:r>
              <a:rPr sz="78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ReservationProvider</a:t>
            </a:r>
            <a:r>
              <a:rPr sz="788" b="0" dirty="0">
                <a:solidFill>
                  <a:srgbClr val="667085"/>
                </a:solidFill>
                <a:latin typeface="Aptos"/>
                <a:ea typeface="Aptos"/>
                <a:cs typeface="Aptos"/>
              </a:rPr>
              <a:t>, </a:t>
            </a:r>
            <a:r>
              <a:rPr sz="788" b="0" dirty="0" err="1">
                <a:solidFill>
                  <a:srgbClr val="667085"/>
                </a:solidFill>
                <a:latin typeface="Aptos"/>
                <a:ea typeface="Aptos"/>
                <a:cs typeface="Aptos"/>
              </a:rPr>
              <a:t>NotificationProvider</a:t>
            </a:r>
            <a:endParaRPr sz="788" b="0" dirty="0">
              <a:solidFill>
                <a:srgbClr val="66708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972545-F607-4E63-B926-4B8AEC25F67E}"/>
              </a:ext>
            </a:extLst>
          </p:cNvPr>
          <p:cNvSpPr>
            <a:spLocks noGrp="1"/>
          </p:cNvSpPr>
          <p:nvPr/>
        </p:nvSpPr>
        <p:spPr>
          <a:xfrm>
            <a:off x="5886450" y="3162300"/>
            <a:ext cx="457200" cy="190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0F69C497-B4A6-4E8C-8AED-35EC097EB14A}"/>
              </a:ext>
            </a:extLst>
          </p:cNvPr>
          <p:cNvSpPr>
            <a:spLocks noGrp="1"/>
          </p:cNvSpPr>
          <p:nvPr/>
        </p:nvSpPr>
        <p:spPr>
          <a:xfrm>
            <a:off x="6305550" y="3114675"/>
            <a:ext cx="114300" cy="114300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17" name="Graphique 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6553200" y="2552700"/>
            <a:ext cx="323850" cy="32385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167C993-70F1-4B5F-A688-4C2EE98C5B09}"/>
              </a:ext>
            </a:extLst>
          </p:cNvPr>
          <p:cNvSpPr>
            <a:spLocks noGrp="1"/>
          </p:cNvSpPr>
          <p:nvPr/>
        </p:nvSpPr>
        <p:spPr>
          <a:xfrm>
            <a:off x="6362700" y="2343150"/>
            <a:ext cx="2266950" cy="1676400"/>
          </a:xfrm>
          <a:prstGeom prst="rect">
            <a:avLst/>
          </a:prstGeom>
          <a:solidFill>
            <a:srgbClr val="F8FAFF"/>
          </a:solidFill>
          <a:ln w="9525">
            <a:solidFill>
              <a:srgbClr val="E0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DC6996F-3907-4AB2-99B4-500AF0062DBC}"/>
              </a:ext>
            </a:extLst>
          </p:cNvPr>
          <p:cNvSpPr>
            <a:spLocks noGrp="1"/>
          </p:cNvSpPr>
          <p:nvPr/>
        </p:nvSpPr>
        <p:spPr>
          <a:xfrm>
            <a:off x="6572250" y="30480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Services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AE8DAF1-1759-4337-8AE7-09E1F2654A4E}"/>
              </a:ext>
            </a:extLst>
          </p:cNvPr>
          <p:cNvSpPr>
            <a:spLocks noGrp="1"/>
          </p:cNvSpPr>
          <p:nvPr/>
        </p:nvSpPr>
        <p:spPr>
          <a:xfrm>
            <a:off x="6572250" y="33718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EventService, ReservationService, AdminService, ReviewService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5AD800-4B31-4858-9D0D-8D1E1462E9A0}"/>
              </a:ext>
            </a:extLst>
          </p:cNvPr>
          <p:cNvSpPr>
            <a:spLocks noGrp="1"/>
          </p:cNvSpPr>
          <p:nvPr/>
        </p:nvSpPr>
        <p:spPr>
          <a:xfrm>
            <a:off x="8667750" y="3162300"/>
            <a:ext cx="457200" cy="1905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D0BD020D-10E2-4557-8216-70E63195BF3E}"/>
              </a:ext>
            </a:extLst>
          </p:cNvPr>
          <p:cNvSpPr>
            <a:spLocks noGrp="1"/>
          </p:cNvSpPr>
          <p:nvPr/>
        </p:nvSpPr>
        <p:spPr>
          <a:xfrm>
            <a:off x="9086850" y="3114675"/>
            <a:ext cx="114300" cy="11430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pic>
        <p:nvPicPr>
          <p:cNvPr id="23" name="Graphique 2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334500" y="2552700"/>
            <a:ext cx="323850" cy="32385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E69E1F27-836B-4501-B930-E549FF10619D}"/>
              </a:ext>
            </a:extLst>
          </p:cNvPr>
          <p:cNvSpPr>
            <a:spLocks noGrp="1"/>
          </p:cNvSpPr>
          <p:nvPr/>
        </p:nvSpPr>
        <p:spPr>
          <a:xfrm>
            <a:off x="9144000" y="2343150"/>
            <a:ext cx="2266950" cy="1676400"/>
          </a:xfrm>
          <a:prstGeom prst="rect">
            <a:avLst/>
          </a:prstGeom>
          <a:solidFill>
            <a:srgbClr val="F8FAFF"/>
          </a:solidFill>
          <a:ln w="9525">
            <a:solidFill>
              <a:srgbClr val="E0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A23F19-2042-485C-B190-4093D86BEA5B}"/>
              </a:ext>
            </a:extLst>
          </p:cNvPr>
          <p:cNvSpPr>
            <a:spLocks noGrp="1"/>
          </p:cNvSpPr>
          <p:nvPr/>
        </p:nvSpPr>
        <p:spPr>
          <a:xfrm>
            <a:off x="9353550" y="3048000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Firebase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DD98FB3-C237-4048-ABAE-CF30EB888CD7}"/>
              </a:ext>
            </a:extLst>
          </p:cNvPr>
          <p:cNvSpPr>
            <a:spLocks noGrp="1"/>
          </p:cNvSpPr>
          <p:nvPr/>
        </p:nvSpPr>
        <p:spPr>
          <a:xfrm>
            <a:off x="9353550" y="3371850"/>
            <a:ext cx="18097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Auth + Cloud Firestore + security rules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1B8E579-57FE-4F03-B21C-47FC0F7300E8}"/>
              </a:ext>
            </a:extLst>
          </p:cNvPr>
          <p:cNvSpPr>
            <a:spLocks noGrp="1"/>
          </p:cNvSpPr>
          <p:nvPr/>
        </p:nvSpPr>
        <p:spPr>
          <a:xfrm>
            <a:off x="1676400" y="4743450"/>
            <a:ext cx="8839200" cy="6096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C2B9A9-CB42-4A4F-ACE5-7CF56F5EDE49}"/>
              </a:ext>
            </a:extLst>
          </p:cNvPr>
          <p:cNvSpPr>
            <a:spLocks noGrp="1"/>
          </p:cNvSpPr>
          <p:nvPr/>
        </p:nvSpPr>
        <p:spPr>
          <a:xfrm>
            <a:off x="2000250" y="4933950"/>
            <a:ext cx="8191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ReservationService utilise une transaction: verifier la capacite, creer la reservation, incrementer currentAttendees.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3135C03-BD47-4CD2-A3DF-0C7C91D58EEF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9525"/>
          </a:xfrm>
          <a:prstGeom prst="rect">
            <a:avLst/>
          </a:prstGeom>
          <a:solidFill>
            <a:srgbClr val="E6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F0B1107-52B3-474C-8246-EA9A43BCE69A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7429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Sources: providers/*.dart, services/*.dart, firestore.rules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7D1E83B-29B2-4062-BD77-7BBA3A5F46C0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69324682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C38A8482-DFC5-43C0-8A56-A0696E3CDA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3ABA4B4B-7FE5-4230-864E-70463E4E62E2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ellipse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4E05FE39-B6CE-4A2D-9A64-6010CE94F5C4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EXPERIENCE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F7CADA-D767-4D18-8592-90654413FFEC}"/>
              </a:ext>
            </a:extLst>
          </p:cNvPr>
          <p:cNvSpPr>
            <a:spLocks noGrp="1"/>
          </p:cNvSpPr>
          <p:nvPr/>
        </p:nvSpPr>
        <p:spPr>
          <a:xfrm>
            <a:off x="552450" y="781050"/>
            <a:ext cx="8382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Le design system rend l'application plus rapide a comprendre.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950212-EDFA-43A9-B52E-5B51BD88B180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7620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DevMob reutilise des tokens visuels: couleurs de marque, themes clair/sombre, glass cards, skeletons, badges, boutons premium et micro-animations.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555789-7F98-437C-B6EF-16469760AED6}"/>
              </a:ext>
            </a:extLst>
          </p:cNvPr>
          <p:cNvSpPr>
            <a:spLocks noGrp="1"/>
          </p:cNvSpPr>
          <p:nvPr/>
        </p:nvSpPr>
        <p:spPr>
          <a:xfrm>
            <a:off x="742950" y="2533650"/>
            <a:ext cx="723900" cy="723900"/>
          </a:xfrm>
          <a:prstGeom prst="rect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F87D9BF-448F-4A3A-9AB4-5BCCBD192A82}"/>
              </a:ext>
            </a:extLst>
          </p:cNvPr>
          <p:cNvSpPr>
            <a:spLocks noGrp="1"/>
          </p:cNvSpPr>
          <p:nvPr/>
        </p:nvSpPr>
        <p:spPr>
          <a:xfrm>
            <a:off x="742950" y="3390900"/>
            <a:ext cx="762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Indigo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C7BC06-1F1D-454A-A6DA-F38D32B3AD16}"/>
              </a:ext>
            </a:extLst>
          </p:cNvPr>
          <p:cNvSpPr>
            <a:spLocks noGrp="1"/>
          </p:cNvSpPr>
          <p:nvPr/>
        </p:nvSpPr>
        <p:spPr>
          <a:xfrm>
            <a:off x="1790700" y="2533650"/>
            <a:ext cx="723900" cy="7239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083708-E0F8-44B3-9B72-B48A300E6DA4}"/>
              </a:ext>
            </a:extLst>
          </p:cNvPr>
          <p:cNvSpPr>
            <a:spLocks noGrp="1"/>
          </p:cNvSpPr>
          <p:nvPr/>
        </p:nvSpPr>
        <p:spPr>
          <a:xfrm>
            <a:off x="1790700" y="3390900"/>
            <a:ext cx="762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Cyan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83B5D8A-1BEE-4B8B-8469-1DC31DA6E06E}"/>
              </a:ext>
            </a:extLst>
          </p:cNvPr>
          <p:cNvSpPr>
            <a:spLocks noGrp="1"/>
          </p:cNvSpPr>
          <p:nvPr/>
        </p:nvSpPr>
        <p:spPr>
          <a:xfrm>
            <a:off x="2838450" y="2533650"/>
            <a:ext cx="723900" cy="723900"/>
          </a:xfrm>
          <a:prstGeom prst="rect">
            <a:avLst/>
          </a:prstGeom>
          <a:solidFill>
            <a:srgbClr val="EC48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331954D-80F1-4FE9-8272-4D91BF359F28}"/>
              </a:ext>
            </a:extLst>
          </p:cNvPr>
          <p:cNvSpPr>
            <a:spLocks noGrp="1"/>
          </p:cNvSpPr>
          <p:nvPr/>
        </p:nvSpPr>
        <p:spPr>
          <a:xfrm>
            <a:off x="2838450" y="3390900"/>
            <a:ext cx="762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Pink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DF9461-BC0D-4ADC-82D8-276947F831D6}"/>
              </a:ext>
            </a:extLst>
          </p:cNvPr>
          <p:cNvSpPr>
            <a:spLocks noGrp="1"/>
          </p:cNvSpPr>
          <p:nvPr/>
        </p:nvSpPr>
        <p:spPr>
          <a:xfrm>
            <a:off x="3886200" y="2533650"/>
            <a:ext cx="723900" cy="723900"/>
          </a:xfrm>
          <a:prstGeom prst="rect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BFF313-A6EF-4DC5-B328-29AFDF9F00AE}"/>
              </a:ext>
            </a:extLst>
          </p:cNvPr>
          <p:cNvSpPr>
            <a:spLocks noGrp="1"/>
          </p:cNvSpPr>
          <p:nvPr/>
        </p:nvSpPr>
        <p:spPr>
          <a:xfrm>
            <a:off x="3886200" y="3390900"/>
            <a:ext cx="762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Emerald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A7A788-B8A2-43BF-A8A6-3A79216E0EE0}"/>
              </a:ext>
            </a:extLst>
          </p:cNvPr>
          <p:cNvSpPr>
            <a:spLocks noGrp="1"/>
          </p:cNvSpPr>
          <p:nvPr/>
        </p:nvSpPr>
        <p:spPr>
          <a:xfrm>
            <a:off x="4933950" y="2533650"/>
            <a:ext cx="723900" cy="72390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21487D1-857D-472C-A45A-88928D313D74}"/>
              </a:ext>
            </a:extLst>
          </p:cNvPr>
          <p:cNvSpPr>
            <a:spLocks noGrp="1"/>
          </p:cNvSpPr>
          <p:nvPr/>
        </p:nvSpPr>
        <p:spPr>
          <a:xfrm>
            <a:off x="4933950" y="3390900"/>
            <a:ext cx="762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75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Amber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499FE95-CC04-49F8-A9F4-E7DA54098045}"/>
              </a:ext>
            </a:extLst>
          </p:cNvPr>
          <p:cNvSpPr>
            <a:spLocks noGrp="1"/>
          </p:cNvSpPr>
          <p:nvPr/>
        </p:nvSpPr>
        <p:spPr>
          <a:xfrm>
            <a:off x="6667500" y="2476500"/>
            <a:ext cx="1809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538BD5-978B-48B0-AEF7-99D2874298A9}"/>
              </a:ext>
            </a:extLst>
          </p:cNvPr>
          <p:cNvSpPr>
            <a:spLocks noGrp="1"/>
          </p:cNvSpPr>
          <p:nvPr/>
        </p:nvSpPr>
        <p:spPr>
          <a:xfrm>
            <a:off x="6819900" y="262890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Navigation vivante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6297D6-DF3E-4374-9F5C-AC3F54B40894}"/>
              </a:ext>
            </a:extLst>
          </p:cNvPr>
          <p:cNvSpPr>
            <a:spLocks noGrp="1"/>
          </p:cNvSpPr>
          <p:nvPr/>
        </p:nvSpPr>
        <p:spPr>
          <a:xfrm>
            <a:off x="6819900" y="28575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Hero routes, fade, slide et scale via flutter_animate.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5029AC-134D-4CDE-9635-868F88C2F637}"/>
              </a:ext>
            </a:extLst>
          </p:cNvPr>
          <p:cNvSpPr>
            <a:spLocks noGrp="1"/>
          </p:cNvSpPr>
          <p:nvPr/>
        </p:nvSpPr>
        <p:spPr>
          <a:xfrm>
            <a:off x="8858250" y="2476500"/>
            <a:ext cx="1809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643AC20-3F5E-4023-BDA6-330AB399AF77}"/>
              </a:ext>
            </a:extLst>
          </p:cNvPr>
          <p:cNvSpPr>
            <a:spLocks noGrp="1"/>
          </p:cNvSpPr>
          <p:nvPr/>
        </p:nvSpPr>
        <p:spPr>
          <a:xfrm>
            <a:off x="9010650" y="262890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Lecture mobile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87C9AB-3879-4532-9967-15A1947FB92F}"/>
              </a:ext>
            </a:extLst>
          </p:cNvPr>
          <p:cNvSpPr>
            <a:spLocks noGrp="1"/>
          </p:cNvSpPr>
          <p:nvPr/>
        </p:nvSpPr>
        <p:spPr>
          <a:xfrm>
            <a:off x="9010650" y="28575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SliverAppBar, cartes compactes, bottom reserve bar.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C4360F-019F-41F5-BCDD-486E129F512C}"/>
              </a:ext>
            </a:extLst>
          </p:cNvPr>
          <p:cNvSpPr>
            <a:spLocks noGrp="1"/>
          </p:cNvSpPr>
          <p:nvPr/>
        </p:nvSpPr>
        <p:spPr>
          <a:xfrm>
            <a:off x="6667500" y="3619500"/>
            <a:ext cx="1809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1ACF66-C03F-438B-9241-804F1711F4F8}"/>
              </a:ext>
            </a:extLst>
          </p:cNvPr>
          <p:cNvSpPr>
            <a:spLocks noGrp="1"/>
          </p:cNvSpPr>
          <p:nvPr/>
        </p:nvSpPr>
        <p:spPr>
          <a:xfrm>
            <a:off x="6819900" y="377190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Localisation FR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197876-F7C3-4F02-AC53-81A322E208BE}"/>
              </a:ext>
            </a:extLst>
          </p:cNvPr>
          <p:cNvSpPr>
            <a:spLocks noGrp="1"/>
          </p:cNvSpPr>
          <p:nvPr/>
        </p:nvSpPr>
        <p:spPr>
          <a:xfrm>
            <a:off x="6819900" y="40005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Calendrier, dates et libelles en francais.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2DAAFC-5CB3-4D4D-92A3-31AD8F7D1EA4}"/>
              </a:ext>
            </a:extLst>
          </p:cNvPr>
          <p:cNvSpPr>
            <a:spLocks noGrp="1"/>
          </p:cNvSpPr>
          <p:nvPr/>
        </p:nvSpPr>
        <p:spPr>
          <a:xfrm>
            <a:off x="8858250" y="3619500"/>
            <a:ext cx="18097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97794E1-44B6-4B17-A563-FAB693CD76B4}"/>
              </a:ext>
            </a:extLst>
          </p:cNvPr>
          <p:cNvSpPr>
            <a:spLocks noGrp="1"/>
          </p:cNvSpPr>
          <p:nvPr/>
        </p:nvSpPr>
        <p:spPr>
          <a:xfrm>
            <a:off x="9010650" y="3771900"/>
            <a:ext cx="1447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60" b="1">
                <a:solidFill>
                  <a:srgbClr val="101827"/>
                </a:solidFill>
                <a:latin typeface="Aptos"/>
                <a:ea typeface="Aptos"/>
                <a:cs typeface="Aptos"/>
              </a:defRPr>
            </a:pPr>
            <a:r>
              <a:rPr sz="960" b="1">
                <a:solidFill>
                  <a:srgbClr val="101827"/>
                </a:solidFill>
                <a:latin typeface="Aptos"/>
                <a:ea typeface="Aptos"/>
                <a:cs typeface="Aptos"/>
              </a:rPr>
              <a:t>Theme adaptatif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010B12-B50D-4B4E-9B2E-4D85F653B71F}"/>
              </a:ext>
            </a:extLst>
          </p:cNvPr>
          <p:cNvSpPr>
            <a:spLocks noGrp="1"/>
          </p:cNvSpPr>
          <p:nvPr/>
        </p:nvSpPr>
        <p:spPr>
          <a:xfrm>
            <a:off x="9010650" y="400050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9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Tokens clairs/sombres depuis AppTheme.</a:t>
            </a:r>
          </a:p>
        </p:txBody>
      </p:sp>
      <p:pic>
        <p:nvPicPr>
          <p:cNvPr id="28" name="Imag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28900" y="3943350"/>
            <a:ext cx="1200150" cy="120015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FCBEAD3E-A625-4A09-BD87-68D1A2F00213}"/>
              </a:ext>
            </a:extLst>
          </p:cNvPr>
          <p:cNvSpPr>
            <a:spLocks noGrp="1"/>
          </p:cNvSpPr>
          <p:nvPr/>
        </p:nvSpPr>
        <p:spPr>
          <a:xfrm>
            <a:off x="4095750" y="4267200"/>
            <a:ext cx="40005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Premium, mais utile: chaque animation clarifie un changement d'etat.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399E6DE-5520-49C7-978A-98851DBB95FE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9525"/>
          </a:xfrm>
          <a:prstGeom prst="rect">
            <a:avLst/>
          </a:prstGeom>
          <a:solidFill>
            <a:srgbClr val="E6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E25AFF-E220-42C6-B1BE-59A2DC8F07C2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7429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Sources: app_theme.dart, widgets/*.dart, main.dart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73E6188-CE6D-4A9B-9F0D-390984D4D701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93867779"/>
      </p:ext>
    </p:extLst>
  </p:cSld>
  <p:clrMapOvr>
    <a:masterClrMapping/>
  </p:clrMapOvr>
  <p:transition spd="med">
    <p:spli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4AD278B-3C7A-42AD-A158-38B4379DBE6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34EBDC7E-C9A5-4D9D-912D-388F1F0DE05D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06D50D0-E6EE-414E-9BD3-AFF77A4BD2FC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C9D4E5"/>
                </a:solidFill>
                <a:latin typeface="Aptos"/>
                <a:ea typeface="Aptos"/>
                <a:cs typeface="Aptos"/>
              </a:rPr>
              <a:t>IMPACT PRODUIT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07232E-0969-4690-9A62-A644BEE86B5E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8191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 valeur vient de la boucle: decouvrir, remplir, mesurer, ameliorer.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2F12CEBA-5BFA-4754-A114-F710326B3FA7}"/>
              </a:ext>
            </a:extLst>
          </p:cNvPr>
          <p:cNvSpPr>
            <a:spLocks noGrp="1"/>
          </p:cNvSpPr>
          <p:nvPr/>
        </p:nvSpPr>
        <p:spPr>
          <a:xfrm>
            <a:off x="4591050" y="1905000"/>
            <a:ext cx="685800" cy="685800"/>
          </a:xfrm>
          <a:prstGeom prst="ellipse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29D03B-82FB-4190-ACFF-0C6F4A1B3F93}"/>
              </a:ext>
            </a:extLst>
          </p:cNvPr>
          <p:cNvSpPr>
            <a:spLocks noGrp="1"/>
          </p:cNvSpPr>
          <p:nvPr/>
        </p:nvSpPr>
        <p:spPr>
          <a:xfrm>
            <a:off x="4229100" y="2705100"/>
            <a:ext cx="1409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Decouverte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EA08EC-0F70-490A-9BF0-71F76DE11ED1}"/>
              </a:ext>
            </a:extLst>
          </p:cNvPr>
          <p:cNvSpPr>
            <a:spLocks noGrp="1"/>
          </p:cNvSpPr>
          <p:nvPr/>
        </p:nvSpPr>
        <p:spPr>
          <a:xfrm>
            <a:off x="4076700" y="29146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catalogue, recherche, carte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67EE70EB-E435-423D-946A-08A734F026B6}"/>
              </a:ext>
            </a:extLst>
          </p:cNvPr>
          <p:cNvSpPr>
            <a:spLocks noGrp="1"/>
          </p:cNvSpPr>
          <p:nvPr/>
        </p:nvSpPr>
        <p:spPr>
          <a:xfrm>
            <a:off x="7067550" y="3333750"/>
            <a:ext cx="685800" cy="68580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BCB8A2-34B8-418E-950B-89BB7CB76C28}"/>
              </a:ext>
            </a:extLst>
          </p:cNvPr>
          <p:cNvSpPr>
            <a:spLocks noGrp="1"/>
          </p:cNvSpPr>
          <p:nvPr/>
        </p:nvSpPr>
        <p:spPr>
          <a:xfrm>
            <a:off x="6705600" y="4133850"/>
            <a:ext cx="1409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Reservation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2853CB-2770-44E5-B700-66C199736E64}"/>
              </a:ext>
            </a:extLst>
          </p:cNvPr>
          <p:cNvSpPr>
            <a:spLocks noGrp="1"/>
          </p:cNvSpPr>
          <p:nvPr/>
        </p:nvSpPr>
        <p:spPr>
          <a:xfrm>
            <a:off x="6553200" y="43434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transaction capacite + paiement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D6B7C9A-1DE9-4239-9078-4832A7DAAC44}"/>
              </a:ext>
            </a:extLst>
          </p:cNvPr>
          <p:cNvSpPr>
            <a:spLocks noGrp="1"/>
          </p:cNvSpPr>
          <p:nvPr/>
        </p:nvSpPr>
        <p:spPr>
          <a:xfrm>
            <a:off x="4591050" y="4762500"/>
            <a:ext cx="685800" cy="68580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AFF38C-D178-408C-A136-C162578DDD64}"/>
              </a:ext>
            </a:extLst>
          </p:cNvPr>
          <p:cNvSpPr>
            <a:spLocks noGrp="1"/>
          </p:cNvSpPr>
          <p:nvPr/>
        </p:nvSpPr>
        <p:spPr>
          <a:xfrm>
            <a:off x="4229100" y="5562600"/>
            <a:ext cx="1409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Feedback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D81EECE-B0BA-479A-9C81-EB0376334A72}"/>
              </a:ext>
            </a:extLst>
          </p:cNvPr>
          <p:cNvSpPr>
            <a:spLocks noGrp="1"/>
          </p:cNvSpPr>
          <p:nvPr/>
        </p:nvSpPr>
        <p:spPr>
          <a:xfrm>
            <a:off x="4076700" y="577215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notes et commentaires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597BF20-855A-48A6-B4E5-84D1B5EF26AD}"/>
              </a:ext>
            </a:extLst>
          </p:cNvPr>
          <p:cNvSpPr>
            <a:spLocks noGrp="1"/>
          </p:cNvSpPr>
          <p:nvPr/>
        </p:nvSpPr>
        <p:spPr>
          <a:xfrm>
            <a:off x="2114550" y="3333750"/>
            <a:ext cx="685800" cy="685800"/>
          </a:xfrm>
          <a:prstGeom prst="ellipse">
            <a:avLst/>
          </a:prstGeom>
          <a:solidFill>
            <a:srgbClr val="EC48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FB964D-FFB6-4077-86AB-BCA2DFA3F276}"/>
              </a:ext>
            </a:extLst>
          </p:cNvPr>
          <p:cNvSpPr>
            <a:spLocks noGrp="1"/>
          </p:cNvSpPr>
          <p:nvPr/>
        </p:nvSpPr>
        <p:spPr>
          <a:xfrm>
            <a:off x="1752600" y="4133850"/>
            <a:ext cx="1409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0A11B0F-BE77-4F23-97C6-93F3C0117ADC}"/>
              </a:ext>
            </a:extLst>
          </p:cNvPr>
          <p:cNvSpPr>
            <a:spLocks noGrp="1"/>
          </p:cNvSpPr>
          <p:nvPr/>
        </p:nvSpPr>
        <p:spPr>
          <a:xfrm>
            <a:off x="1600200" y="4343400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638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stats et notifications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26DEE4-E3F2-455B-A027-ECC08AE1FB3A}"/>
              </a:ext>
            </a:extLst>
          </p:cNvPr>
          <p:cNvSpPr>
            <a:spLocks noGrp="1"/>
          </p:cNvSpPr>
          <p:nvPr/>
        </p:nvSpPr>
        <p:spPr>
          <a:xfrm>
            <a:off x="2533650" y="3676650"/>
            <a:ext cx="4800600" cy="19050"/>
          </a:xfrm>
          <a:prstGeom prst="rect">
            <a:avLst/>
          </a:prstGeom>
          <a:solidFill>
            <a:srgbClr val="3946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CEF1FF-D416-420E-B2AD-D17EDCD5E7DC}"/>
              </a:ext>
            </a:extLst>
          </p:cNvPr>
          <p:cNvSpPr>
            <a:spLocks noGrp="1"/>
          </p:cNvSpPr>
          <p:nvPr/>
        </p:nvSpPr>
        <p:spPr>
          <a:xfrm>
            <a:off x="4933950" y="2305050"/>
            <a:ext cx="19050" cy="2743200"/>
          </a:xfrm>
          <a:prstGeom prst="rect">
            <a:avLst/>
          </a:prstGeom>
          <a:solidFill>
            <a:srgbClr val="3946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8CB91A-2E5B-42AF-9C63-1B93D0CB1960}"/>
              </a:ext>
            </a:extLst>
          </p:cNvPr>
          <p:cNvSpPr>
            <a:spLocks noGrp="1"/>
          </p:cNvSpPr>
          <p:nvPr/>
        </p:nvSpPr>
        <p:spPr>
          <a:xfrm>
            <a:off x="8382000" y="2362200"/>
            <a:ext cx="2400300" cy="2438400"/>
          </a:xfrm>
          <a:prstGeom prst="rect">
            <a:avLst/>
          </a:prstGeom>
          <a:solidFill>
            <a:srgbClr val="182334"/>
          </a:solidFill>
          <a:ln w="9525">
            <a:solidFill>
              <a:srgbClr val="2B3A51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AA7353-55B7-4D65-B55B-C6718A53A62E}"/>
              </a:ext>
            </a:extLst>
          </p:cNvPr>
          <p:cNvSpPr>
            <a:spLocks noGrp="1"/>
          </p:cNvSpPr>
          <p:nvPr/>
        </p:nvSpPr>
        <p:spPr>
          <a:xfrm>
            <a:off x="8667750" y="26289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Indicateurs suivis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59B7CFAA-2631-4CC8-8E82-E52303E6E4FC}"/>
              </a:ext>
            </a:extLst>
          </p:cNvPr>
          <p:cNvSpPr>
            <a:spLocks noGrp="1"/>
          </p:cNvSpPr>
          <p:nvPr/>
        </p:nvSpPr>
        <p:spPr>
          <a:xfrm>
            <a:off x="8705850" y="3143250"/>
            <a:ext cx="95250" cy="95250"/>
          </a:xfrm>
          <a:prstGeom prst="ellipse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14F5AD-CB2A-44EB-B2B5-3F2F16F72904}"/>
              </a:ext>
            </a:extLst>
          </p:cNvPr>
          <p:cNvSpPr>
            <a:spLocks noGrp="1"/>
          </p:cNvSpPr>
          <p:nvPr/>
        </p:nvSpPr>
        <p:spPr>
          <a:xfrm>
            <a:off x="8896350" y="3086100"/>
            <a:ext cx="1504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4E5"/>
                </a:solidFill>
                <a:latin typeface="Aptos"/>
                <a:ea typeface="Aptos"/>
                <a:cs typeface="Aptos"/>
              </a:rPr>
              <a:t>places et disponibilite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DB70C779-9072-4B9A-9367-93DFAD55CDBB}"/>
              </a:ext>
            </a:extLst>
          </p:cNvPr>
          <p:cNvSpPr>
            <a:spLocks noGrp="1"/>
          </p:cNvSpPr>
          <p:nvPr/>
        </p:nvSpPr>
        <p:spPr>
          <a:xfrm>
            <a:off x="8705850" y="3505200"/>
            <a:ext cx="95250" cy="9525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9A189F-A108-4B58-A305-8E9C3E9E0BE2}"/>
              </a:ext>
            </a:extLst>
          </p:cNvPr>
          <p:cNvSpPr>
            <a:spLocks noGrp="1"/>
          </p:cNvSpPr>
          <p:nvPr/>
        </p:nvSpPr>
        <p:spPr>
          <a:xfrm>
            <a:off x="8896350" y="3448050"/>
            <a:ext cx="1504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4E5"/>
                </a:solidFill>
                <a:latin typeface="Aptos"/>
                <a:ea typeface="Aptos"/>
                <a:cs typeface="Aptos"/>
              </a:rPr>
              <a:t>reservations actives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5ED91ECC-CC34-4F25-87FB-972943D4CE99}"/>
              </a:ext>
            </a:extLst>
          </p:cNvPr>
          <p:cNvSpPr>
            <a:spLocks noGrp="1"/>
          </p:cNvSpPr>
          <p:nvPr/>
        </p:nvSpPr>
        <p:spPr>
          <a:xfrm>
            <a:off x="8705850" y="3867150"/>
            <a:ext cx="95250" cy="952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2194B3-4529-488D-B929-1D58C3D32B53}"/>
              </a:ext>
            </a:extLst>
          </p:cNvPr>
          <p:cNvSpPr>
            <a:spLocks noGrp="1"/>
          </p:cNvSpPr>
          <p:nvPr/>
        </p:nvSpPr>
        <p:spPr>
          <a:xfrm>
            <a:off x="8896350" y="3810000"/>
            <a:ext cx="1504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4E5"/>
                </a:solidFill>
                <a:latin typeface="Aptos"/>
                <a:ea typeface="Aptos"/>
                <a:cs typeface="Aptos"/>
              </a:rPr>
              <a:t>notes moyennes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3A28C42C-516B-4C3F-B25E-86353D0977D5}"/>
              </a:ext>
            </a:extLst>
          </p:cNvPr>
          <p:cNvSpPr>
            <a:spLocks noGrp="1"/>
          </p:cNvSpPr>
          <p:nvPr/>
        </p:nvSpPr>
        <p:spPr>
          <a:xfrm>
            <a:off x="8705850" y="4229100"/>
            <a:ext cx="95250" cy="95250"/>
          </a:xfrm>
          <a:prstGeom prst="ellipse">
            <a:avLst/>
          </a:prstGeom>
          <a:solidFill>
            <a:srgbClr val="EC48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D48712-A62B-42F5-A337-5190C52A23BD}"/>
              </a:ext>
            </a:extLst>
          </p:cNvPr>
          <p:cNvSpPr>
            <a:spLocks noGrp="1"/>
          </p:cNvSpPr>
          <p:nvPr/>
        </p:nvSpPr>
        <p:spPr>
          <a:xfrm>
            <a:off x="8896350" y="4171950"/>
            <a:ext cx="15049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9D4E5"/>
                </a:solidFill>
                <a:latin typeface="Aptos"/>
                <a:ea typeface="Aptos"/>
                <a:cs typeface="Aptos"/>
              </a:rPr>
              <a:t>evenements passes/a venir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F846B9-61B8-4239-A2B0-1C82A720774E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9525"/>
          </a:xfrm>
          <a:prstGeom prst="rect">
            <a:avLst/>
          </a:prstGeom>
          <a:solidFill>
            <a:srgbClr val="38415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0DBF443-FC4C-43C9-BFB5-C3912A0C2A94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7429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AAB6C8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AAB6C8"/>
                </a:solidFill>
                <a:latin typeface="Aptos"/>
                <a:ea typeface="Aptos"/>
                <a:cs typeface="Aptos"/>
              </a:rPr>
              <a:t>Sources: event.dart, reservation.dart, review.dart, organizer_stats_page.dart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3961CB1-5FB6-453D-883B-F01169715842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AAB6C8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AAB6C8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25707668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AE26DAC-63EA-4DC6-8751-6AC38B0816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5435C6E0-CC6C-4373-A491-773E96112669}"/>
              </a:ext>
            </a:extLst>
          </p:cNvPr>
          <p:cNvSpPr>
            <a:spLocks noGrp="1"/>
          </p:cNvSpPr>
          <p:nvPr/>
        </p:nvSpPr>
        <p:spPr>
          <a:xfrm>
            <a:off x="552450" y="495300"/>
            <a:ext cx="95250" cy="95250"/>
          </a:xfrm>
          <a:prstGeom prst="ellipse">
            <a:avLst/>
          </a:prstGeom>
          <a:solidFill>
            <a:srgbClr val="6366F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DA92D7A8-BF1D-40D9-8ABB-2DE8EABE4067}"/>
              </a:ext>
            </a:extLst>
          </p:cNvPr>
          <p:cNvSpPr>
            <a:spLocks noGrp="1"/>
          </p:cNvSpPr>
          <p:nvPr/>
        </p:nvSpPr>
        <p:spPr>
          <a:xfrm>
            <a:off x="742950" y="45720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13" b="1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DEMO &amp; SUITE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ADD4F67-1B55-41EC-8F42-13F500D430B5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8572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DevMob est pret pour une demo claire, puis pour une version plus transactionnelle.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74F034-B99D-478D-B7D5-F9352DE472D1}"/>
              </a:ext>
            </a:extLst>
          </p:cNvPr>
          <p:cNvSpPr>
            <a:spLocks noGrp="1"/>
          </p:cNvSpPr>
          <p:nvPr/>
        </p:nvSpPr>
        <p:spPr>
          <a:xfrm>
            <a:off x="723900" y="2362200"/>
            <a:ext cx="4476750" cy="2686050"/>
          </a:xfrm>
          <a:prstGeom prst="rect">
            <a:avLst/>
          </a:prstGeom>
          <a:solidFill>
            <a:srgbClr val="F8FAFF"/>
          </a:solidFill>
          <a:ln w="9525">
            <a:solidFill>
              <a:srgbClr val="E0E7F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EAE802-39FD-429F-97ED-0078AD407749}"/>
              </a:ext>
            </a:extLst>
          </p:cNvPr>
          <p:cNvSpPr>
            <a:spLocks noGrp="1"/>
          </p:cNvSpPr>
          <p:nvPr/>
        </p:nvSpPr>
        <p:spPr>
          <a:xfrm>
            <a:off x="1028700" y="262890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Scenario de demonstration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FE706A-E1FA-4827-AF1C-0107495A6AF0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49B3B2-910D-4405-BFFE-F70E8ADA734E}"/>
              </a:ext>
            </a:extLst>
          </p:cNvPr>
          <p:cNvSpPr>
            <a:spLocks noGrp="1"/>
          </p:cNvSpPr>
          <p:nvPr/>
        </p:nvSpPr>
        <p:spPr>
          <a:xfrm>
            <a:off x="1504950" y="31432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Connexion et routage par role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75A39F-A883-4A48-8621-BF923F053284}"/>
              </a:ext>
            </a:extLst>
          </p:cNvPr>
          <p:cNvSpPr>
            <a:spLocks noGrp="1"/>
          </p:cNvSpPr>
          <p:nvPr/>
        </p:nvSpPr>
        <p:spPr>
          <a:xfrm>
            <a:off x="1066800" y="346710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EC1BB0-963E-4A29-9F36-5F8DDD7DD0E1}"/>
              </a:ext>
            </a:extLst>
          </p:cNvPr>
          <p:cNvSpPr>
            <a:spLocks noGrp="1"/>
          </p:cNvSpPr>
          <p:nvPr/>
        </p:nvSpPr>
        <p:spPr>
          <a:xfrm>
            <a:off x="1504950" y="346710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Recherche, filtre, carte et calendrier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99D6C3-5A90-4589-97A0-ADECF192B4AC}"/>
              </a:ext>
            </a:extLst>
          </p:cNvPr>
          <p:cNvSpPr>
            <a:spLocks noGrp="1"/>
          </p:cNvSpPr>
          <p:nvPr/>
        </p:nvSpPr>
        <p:spPr>
          <a:xfrm>
            <a:off x="1066800" y="37909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AA46A70-395F-4A9C-AEA7-027300ADA218}"/>
              </a:ext>
            </a:extLst>
          </p:cNvPr>
          <p:cNvSpPr>
            <a:spLocks noGrp="1"/>
          </p:cNvSpPr>
          <p:nvPr/>
        </p:nvSpPr>
        <p:spPr>
          <a:xfrm>
            <a:off x="1504950" y="37909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Reservation avec paiement simule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F8EB3A-5FFC-4FF2-A75C-C29818B5382C}"/>
              </a:ext>
            </a:extLst>
          </p:cNvPr>
          <p:cNvSpPr>
            <a:spLocks noGrp="1"/>
          </p:cNvSpPr>
          <p:nvPr/>
        </p:nvSpPr>
        <p:spPr>
          <a:xfrm>
            <a:off x="1066800" y="411480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4829FD-B3ED-47BE-9177-D3356FBE5C71}"/>
              </a:ext>
            </a:extLst>
          </p:cNvPr>
          <p:cNvSpPr>
            <a:spLocks noGrp="1"/>
          </p:cNvSpPr>
          <p:nvPr/>
        </p:nvSpPr>
        <p:spPr>
          <a:xfrm>
            <a:off x="1504950" y="411480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Dashboard organisateur et notifications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188B27-0D86-4FCE-936D-AC770EDB16FB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342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6366F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366F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C7780C-C9F6-4CE0-991D-DB214A33F5B2}"/>
              </a:ext>
            </a:extLst>
          </p:cNvPr>
          <p:cNvSpPr>
            <a:spLocks noGrp="1"/>
          </p:cNvSpPr>
          <p:nvPr/>
        </p:nvSpPr>
        <p:spPr>
          <a:xfrm>
            <a:off x="1504950" y="4438650"/>
            <a:ext cx="2952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1F293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F2937"/>
                </a:solidFill>
                <a:latin typeface="Aptos"/>
                <a:ea typeface="Aptos"/>
                <a:cs typeface="Aptos"/>
              </a:rPr>
              <a:t>Administration utilisateurs/evenements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19B486-CD05-441C-B46C-5C82CCF0A54F}"/>
              </a:ext>
            </a:extLst>
          </p:cNvPr>
          <p:cNvSpPr>
            <a:spLocks noGrp="1"/>
          </p:cNvSpPr>
          <p:nvPr/>
        </p:nvSpPr>
        <p:spPr>
          <a:xfrm>
            <a:off x="6229350" y="2362200"/>
            <a:ext cx="4476750" cy="26860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433CE40-8903-427D-9A93-AF955CEC4AAE}"/>
              </a:ext>
            </a:extLst>
          </p:cNvPr>
          <p:cNvSpPr>
            <a:spLocks noGrp="1"/>
          </p:cNvSpPr>
          <p:nvPr/>
        </p:nvSpPr>
        <p:spPr>
          <a:xfrm>
            <a:off x="6553200" y="2628900"/>
            <a:ext cx="3143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Roadmap recommandee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3E3F53B-E528-4971-B194-75D445A19391}"/>
              </a:ext>
            </a:extLst>
          </p:cNvPr>
          <p:cNvSpPr>
            <a:spLocks noGrp="1"/>
          </p:cNvSpPr>
          <p:nvPr/>
        </p:nvSpPr>
        <p:spPr>
          <a:xfrm>
            <a:off x="6591300" y="3162300"/>
            <a:ext cx="114300" cy="114300"/>
          </a:xfrm>
          <a:prstGeom prst="ellipse">
            <a:avLst/>
          </a:prstGeom>
          <a:solidFill>
            <a:srgbClr val="10B98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F31B76-98DA-4254-86CD-B12015988B54}"/>
              </a:ext>
            </a:extLst>
          </p:cNvPr>
          <p:cNvSpPr>
            <a:spLocks noGrp="1"/>
          </p:cNvSpPr>
          <p:nvPr/>
        </p:nvSpPr>
        <p:spPr>
          <a:xfrm>
            <a:off x="6819900" y="3086100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Paiement reel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420E0-B93C-452D-A85C-FF7D7E28785D}"/>
              </a:ext>
            </a:extLst>
          </p:cNvPr>
          <p:cNvSpPr>
            <a:spLocks noGrp="1"/>
          </p:cNvSpPr>
          <p:nvPr/>
        </p:nvSpPr>
        <p:spPr>
          <a:xfrm>
            <a:off x="8191500" y="30861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9D4E5"/>
                </a:solidFill>
                <a:latin typeface="Aptos"/>
                <a:ea typeface="Aptos"/>
                <a:cs typeface="Aptos"/>
              </a:rPr>
              <a:t>remplacer la simulation par une passerelle bancaire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3D9C53B7-C11B-450A-B01C-6DE191036380}"/>
              </a:ext>
            </a:extLst>
          </p:cNvPr>
          <p:cNvSpPr>
            <a:spLocks noGrp="1"/>
          </p:cNvSpPr>
          <p:nvPr/>
        </p:nvSpPr>
        <p:spPr>
          <a:xfrm>
            <a:off x="6591300" y="3562350"/>
            <a:ext cx="114300" cy="114300"/>
          </a:xfrm>
          <a:prstGeom prst="ellipse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8D56A3-3767-42C4-988E-C63C4FFD03C0}"/>
              </a:ext>
            </a:extLst>
          </p:cNvPr>
          <p:cNvSpPr>
            <a:spLocks noGrp="1"/>
          </p:cNvSpPr>
          <p:nvPr/>
        </p:nvSpPr>
        <p:spPr>
          <a:xfrm>
            <a:off x="6819900" y="3486150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 &amp; tickets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233D6D3-62A3-494A-B5F2-DD874DB87666}"/>
              </a:ext>
            </a:extLst>
          </p:cNvPr>
          <p:cNvSpPr>
            <a:spLocks noGrp="1"/>
          </p:cNvSpPr>
          <p:nvPr/>
        </p:nvSpPr>
        <p:spPr>
          <a:xfrm>
            <a:off x="8191500" y="34861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9D4E5"/>
                </a:solidFill>
                <a:latin typeface="Aptos"/>
                <a:ea typeface="Aptos"/>
                <a:cs typeface="Aptos"/>
              </a:rPr>
              <a:t>stockage images + QR/check-in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FB580B7-E74D-4332-A3DA-AE1673575473}"/>
              </a:ext>
            </a:extLst>
          </p:cNvPr>
          <p:cNvSpPr>
            <a:spLocks noGrp="1"/>
          </p:cNvSpPr>
          <p:nvPr/>
        </p:nvSpPr>
        <p:spPr>
          <a:xfrm>
            <a:off x="6591300" y="3962400"/>
            <a:ext cx="114300" cy="11430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4F823A-B3CE-47B4-9D44-1FEF05B482B2}"/>
              </a:ext>
            </a:extLst>
          </p:cNvPr>
          <p:cNvSpPr>
            <a:spLocks noGrp="1"/>
          </p:cNvSpPr>
          <p:nvPr/>
        </p:nvSpPr>
        <p:spPr>
          <a:xfrm>
            <a:off x="6819900" y="3886200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Recommandation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5F9C6F-C974-4977-B345-DC503B106D66}"/>
              </a:ext>
            </a:extLst>
          </p:cNvPr>
          <p:cNvSpPr>
            <a:spLocks noGrp="1"/>
          </p:cNvSpPr>
          <p:nvPr/>
        </p:nvSpPr>
        <p:spPr>
          <a:xfrm>
            <a:off x="8191500" y="388620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9D4E5"/>
                </a:solidFill>
                <a:latin typeface="Aptos"/>
                <a:ea typeface="Aptos"/>
                <a:cs typeface="Aptos"/>
              </a:rPr>
              <a:t>suggestions selon categories et historique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32DFE03E-22DA-4443-9BB2-9CE0360B4102}"/>
              </a:ext>
            </a:extLst>
          </p:cNvPr>
          <p:cNvSpPr>
            <a:spLocks noGrp="1"/>
          </p:cNvSpPr>
          <p:nvPr/>
        </p:nvSpPr>
        <p:spPr>
          <a:xfrm>
            <a:off x="6591300" y="4362450"/>
            <a:ext cx="114300" cy="114300"/>
          </a:xfrm>
          <a:prstGeom prst="ellipse">
            <a:avLst/>
          </a:prstGeom>
          <a:solidFill>
            <a:srgbClr val="EC489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EA726-69EC-47CB-A8BA-8E1835EA3E2D}"/>
              </a:ext>
            </a:extLst>
          </p:cNvPr>
          <p:cNvSpPr>
            <a:spLocks noGrp="1"/>
          </p:cNvSpPr>
          <p:nvPr/>
        </p:nvSpPr>
        <p:spPr>
          <a:xfrm>
            <a:off x="6819900" y="4286250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Back-office web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4A143A-A922-44B6-BADC-0A7A69958A32}"/>
              </a:ext>
            </a:extLst>
          </p:cNvPr>
          <p:cNvSpPr>
            <a:spLocks noGrp="1"/>
          </p:cNvSpPr>
          <p:nvPr/>
        </p:nvSpPr>
        <p:spPr>
          <a:xfrm>
            <a:off x="8191500" y="4286250"/>
            <a:ext cx="200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13" b="0">
                <a:solidFill>
                  <a:srgbClr val="C9D4E5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C9D4E5"/>
                </a:solidFill>
                <a:latin typeface="Aptos"/>
                <a:ea typeface="Aptos"/>
                <a:cs typeface="Aptos"/>
              </a:rPr>
              <a:t>console admin plus large pour exploitation</a:t>
            </a:r>
          </a:p>
        </p:txBody>
      </p:sp>
      <p:pic>
        <p:nvPicPr>
          <p:cNvPr id="31" name="Imag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86350" y="5334000"/>
            <a:ext cx="800100" cy="8001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1E366A2C-9B6B-451B-A6B1-34809ABCD260}"/>
              </a:ext>
            </a:extLst>
          </p:cNvPr>
          <p:cNvSpPr>
            <a:spLocks noGrp="1"/>
          </p:cNvSpPr>
          <p:nvPr/>
        </p:nvSpPr>
        <p:spPr>
          <a:xfrm>
            <a:off x="5924550" y="5505450"/>
            <a:ext cx="1428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01827"/>
                </a:solidFill>
                <a:latin typeface="Aptos Display"/>
                <a:ea typeface="Aptos Display"/>
                <a:cs typeface="Aptos Display"/>
              </a:rPr>
              <a:t>Merci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913DC66-1D31-4C3A-90A2-3AD6217CFC30}"/>
              </a:ext>
            </a:extLst>
          </p:cNvPr>
          <p:cNvSpPr>
            <a:spLocks noGrp="1"/>
          </p:cNvSpPr>
          <p:nvPr/>
        </p:nvSpPr>
        <p:spPr>
          <a:xfrm>
            <a:off x="552450" y="6419850"/>
            <a:ext cx="11087100" cy="9525"/>
          </a:xfrm>
          <a:prstGeom prst="rect">
            <a:avLst/>
          </a:prstGeom>
          <a:solidFill>
            <a:srgbClr val="E6EAF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EDDE9B-DB46-4D7F-B034-F4778C9D6420}"/>
              </a:ext>
            </a:extLst>
          </p:cNvPr>
          <p:cNvSpPr>
            <a:spLocks noGrp="1"/>
          </p:cNvSpPr>
          <p:nvPr/>
        </p:nvSpPr>
        <p:spPr>
          <a:xfrm>
            <a:off x="552450" y="6553200"/>
            <a:ext cx="7429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63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563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Roadmap: prochaine version proposee; les fonctionnalites actuelles viennent du code source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976130E-AD01-48A0-83B2-76A50B9927CF}"/>
              </a:ext>
            </a:extLst>
          </p:cNvPr>
          <p:cNvSpPr>
            <a:spLocks noGrp="1"/>
          </p:cNvSpPr>
          <p:nvPr/>
        </p:nvSpPr>
        <p:spPr>
          <a:xfrm>
            <a:off x="11144250" y="65151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667085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7227038"/>
      </p:ext>
    </p:extLst>
  </p:cSld>
  <p:clrMapOvr>
    <a:masterClrMapping/>
  </p:clrMapOvr>
  <p:transition spd="med">
    <p:push/>
  </p:transition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950</Words>
  <Application>Microsoft Office PowerPoint</Application>
  <DocSecurity>0</DocSecurity>
  <PresentationFormat>Grand écran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Anis Kribi</cp:lastModifiedBy>
  <cp:revision>3</cp:revision>
  <dcterms:created xsi:type="dcterms:W3CDTF">2026-05-19T21:33:58Z</dcterms:created>
  <dcterms:modified xsi:type="dcterms:W3CDTF">2026-08-16T20:15:15Z</dcterms:modified>
</cp:coreProperties>
</file>